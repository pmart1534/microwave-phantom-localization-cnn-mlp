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1389888"/>
            <a:ext cx="64008" cy="1481328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14173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LOCALIZATION IN BREAST PHANTOMS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17830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vs MLP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41248" y="28346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matched, head-to-head comparison of two machine-learning approaches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microwave tumor localization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4343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Martin  ·  University of Utah  ·  Electrical &amp; Computer Engineering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46817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 v2 (session-mean subtraction removed)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a hidden tumor inside a breast phantom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locate a small tumor surrogate (metal fishing weight) placed inside a realistic breast phantom, without opening it up.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Microwave imaging: low-cost, non-ionizing alternative screening modality.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tumor perturbs how microwaves reflect and transmit through the tissue, but the change is tiny and buried in drift and noise.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case: a glandular insert (dense tissue) further masks the tumor signal.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given one measurement, which of ~33–51 grid positions holds the tumor?</a:t>
            </a:r>
            <a:endParaRPr lang="en-US" sz="1400" dirty="0"/>
          </a:p>
        </p:txBody>
      </p:sp>
      <p:pic>
        <p:nvPicPr>
          <p:cNvPr id="5" name="Image 0" descr="assets/phantom_f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234440"/>
            <a:ext cx="3291840" cy="29352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0" y="42245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breast phantom with F5 glandular insert and measurement grid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a machine learn the fingerprint of every position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inverse-scattering reconstruction is slow and fragile. Instead, we treat localization as a pattern-recognition problem: measure the phantom with the tumor at every known position, then train a model to recognise each position's electromagnetic fingerprint.</a:t>
            </a:r>
            <a:endParaRPr lang="en-US" sz="1400" dirty="0"/>
          </a:p>
        </p:txBody>
      </p:sp>
      <p:pic>
        <p:nvPicPr>
          <p:cNvPr id="5" name="Image 0" descr="assets/setup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148840"/>
            <a:ext cx="8321040" cy="1481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8404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44074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S-parameters per sweep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474720" y="38404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791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3474720" y="44074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points, 0.1–8 GHz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126480" y="38404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~2–3%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6126480" y="44074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chance-level accuracy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1847088"/>
            <a:ext cx="64008" cy="1051560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1874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41248" y="2212848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841248" y="2999232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measurement, the two models, and how they differ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physical measurement</a:t>
            </a:r>
            <a:endParaRPr lang="en-US" sz="2500" dirty="0"/>
          </a:p>
        </p:txBody>
      </p:sp>
      <p:pic>
        <p:nvPicPr>
          <p:cNvPr id="4" name="Image 0" descr="assets/phantom_empt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3108960" cy="31455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46227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A3 phantom: adipose bowl, 6×6 in grid, 4 antennas at the rim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886200" y="132588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4-port Hunter VNA sweeps 0.1–8 GHz (791 points) through 4 antennas around the phantom.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sweep captures all 16 S-parameters: 4 reflections (S11…S44) plus transmissions between every antenna pair.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surrogate is moved through a grid of cell corner positions; 16 repeat trials per position.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(empty-phantom) sweeps recorded each session for calibration.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setup measured in 3–4 independent sessions on different setups/times; this matters later (LOSO).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turn a measurement into a position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receive the SAME preprocessed measurement and output a probability for every grid position. They differ in how they look at the data.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9776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057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24505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  ·  MATLAB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2834640"/>
            <a:ext cx="36118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the measurement as a 2-D image: y axis = channels, x axis = frequency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 filters slide along frequency, learning local patterns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1874520"/>
            <a:ext cx="39776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2057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983480" y="24505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Perceptron  ·  Python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10328" y="2834640"/>
            <a:ext cx="36118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the measurement as one long flattened vector of numbers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input connects to every neuron: the network has no built-in idea that neighboring frequencies are related, so any such structure must be learned from scratch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CNN</a:t>
            </a:r>
            <a:endParaRPr lang="en-US" sz="2500" dirty="0"/>
          </a:p>
        </p:txBody>
      </p:sp>
      <p:pic>
        <p:nvPicPr>
          <p:cNvPr id="4" name="Image 0" descr="assets/cnn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8412480" cy="1874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24612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is an image: one row per data channel (e.g. |S11|, ∠S11, …), one column per frequency point (791).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convolution layers (32 filters each) detect local patterns such as resonance shifts and ripples anywhere along the spectrum, sharing weights across frequency.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Batch-normalisation + ReLU after every layer; 30% dropout fights overfitting.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network, trained 100 epochs with Adam (batch 16) on the GPU; softmax outputs one probability per grid position.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MLP</a:t>
            </a:r>
            <a:endParaRPr lang="en-US" sz="2500" dirty="0"/>
          </a:p>
        </p:txBody>
      </p:sp>
      <p:pic>
        <p:nvPicPr>
          <p:cNvPr id="4" name="Image 0" descr="assets/mlp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8412480" cy="1874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24612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is a flat vector: all channels and frequencies concatenated (thousands of features). No spatial structure is assumed.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dense layers (256 → 128, ReLU): every feature can interact with every other, but nothing is shared or localized.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on a held-out validation split prevents overtraining.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Ensemble: 3 networks with different random seeds are averaged, plus a logistic-regression model; the ensemble vote is the prediction.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vs MLP: structural differences</a:t>
            </a:r>
            <a:endParaRPr lang="en-US" sz="2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063240"/>
                <a:gridCol w="3063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sees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2-D image (channels × frequency)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1-D flattened vector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Inductive bias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patterns, shared across frequency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None; fully general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conv filters + FC (~0.5–2 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Huge first layer (features × 256)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100 epochs, single network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stopping, 3-seed ensemble + LogReg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MATLAB Deep Learning Toolbox (GPU)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scikit-learn (CPU)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34340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BEDED"/>
          </a:solidFill>
          <a:ln w="12700">
            <a:solidFill>
              <a:srgbClr val="E8C4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434340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job, opposite philosophies: the CNN assumes frequency-local structure; the MLP assumes nothing. Everything else in this study is held identical.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1847088"/>
            <a:ext cx="64008" cy="1051560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1874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41248" y="2212848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pipeline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841248" y="2999232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a measurement before any 'AI' ever sees it. Identical for both models.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steps from raw sweep to model input</a:t>
            </a:r>
            <a:endParaRPr lang="en-US" sz="2500" dirty="0"/>
          </a:p>
        </p:txBody>
      </p:sp>
      <p:pic>
        <p:nvPicPr>
          <p:cNvPr id="4" name="Image 0" descr="assets/pipeline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98448"/>
            <a:ext cx="8412480" cy="20848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5204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removes everything that is not the tumor; step 3 (per-session z-score) is the key drift defense: each session is standardized by its own statistics. Applied identically to CNN and MLP.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change: the per-session mean subtraction used in v1 was removed. An ablation showed it was redundant with the z-score for the MLP (up to +6 pts recovered on hard configs) and roughly neutral for the CNN outside TDR inputs.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input representations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828800"/>
          </a:xfrm>
          <a:prstGeom prst="roundRect">
            <a:avLst>
              <a:gd name="adj" fmla="val 3500"/>
            </a:avLst>
          </a:prstGeom>
          <a:solidFill>
            <a:srgbClr val="FBEDED"/>
          </a:solidFill>
          <a:ln w="19050">
            <a:solidFill>
              <a:srgbClr val="BE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5179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1901952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+ phase of each calibrated S-parameter.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measurement as the VNA reports it. Used for the main results.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1371600"/>
            <a:ext cx="265176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47288" y="15179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47288" y="1901952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real &amp; imaginary parts and the IFFT time-domain (TDR) envelope.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at no cost from the same data; covered at the end.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65176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6208" y="15179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TDR-ONLY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36208" y="1901952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the time-domain envelope, a pulse-echo view.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ablation: how much lives in time domain alone?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3401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numbers, two shapes: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7124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CNN:  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stacked as image rows × 791 frequency columns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MLP:  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rows laid end-to-end as one long vector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34340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BEDED"/>
          </a:solidFill>
          <a:ln w="12700">
            <a:solidFill>
              <a:srgbClr val="E8C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34340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 subsets work the same way: '2 antennas' keeps only S-parameters among ports 1 &amp; 3; '1 antenna' keeps only S11.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score: Leave-One-Session-Out</a:t>
            </a:r>
            <a:endParaRPr lang="en-US" sz="2500" dirty="0"/>
          </a:p>
        </p:txBody>
      </p:sp>
      <p:pic>
        <p:nvPicPr>
          <p:cNvPr id="4" name="Image 0" descr="assets/lo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80160"/>
            <a:ext cx="7955280" cy="2423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7490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75/25 split mixes trials from the same session into train AND test, so the model can cheat off session drift, inflating accuracy.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 trains on N−1 sessions and tests on the session it has never seen; every session takes a turn. We report per-position majority vote over its 16 trials.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thoroughly stress-tested LOSO and verified that it works: under LOSO, models cannot exploit session drift, and drift-only information scores near chance.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phantom setups, increasing difficulty</a:t>
            </a:r>
            <a:endParaRPr lang="en-US" sz="2500" dirty="0"/>
          </a:p>
        </p:txBody>
      </p:sp>
      <p:pic>
        <p:nvPicPr>
          <p:cNvPr id="4" name="Image 0" descr="assets/phantom_empt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2651760" cy="2688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794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Empty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65760" y="41148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adipose only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positions · 3 sessions</a:t>
            </a:r>
            <a:endParaRPr lang="en-US" sz="1100" dirty="0"/>
          </a:p>
        </p:txBody>
      </p:sp>
      <p:pic>
        <p:nvPicPr>
          <p:cNvPr id="7" name="Image 1" descr="assets/phantom_f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371600"/>
            <a:ext cx="2651760" cy="23682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46120" y="3794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+ F4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3154680" y="41148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glandular insert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positions · 4 sessions</a:t>
            </a:r>
            <a:endParaRPr lang="en-US" sz="1100" dirty="0"/>
          </a:p>
        </p:txBody>
      </p:sp>
      <p:pic>
        <p:nvPicPr>
          <p:cNvPr id="10" name="Image 2" descr="assets/phantom_f5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371600"/>
            <a:ext cx="2651760" cy="23682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35040" y="3794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+ F5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5943600" y="41148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glandular insert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positions · 3 sessions (latest)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1847088"/>
            <a:ext cx="64008" cy="1051560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1874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41248" y="2212848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841248" y="2999232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Per-position vote accuracy (%) under LOSO · identical raw inputs (mag + phase) · chance = 2–3% · pipeline v2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RAW INPUTS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4 antennas: full S-parameters (16)</a:t>
            </a:r>
            <a:endParaRPr lang="en-US" sz="2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737360"/>
                <a:gridCol w="173736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Phantom setup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− MLP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Empty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 ± 1.1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 ± 0.9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97.4 ± 3.0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 ± 2.2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± 0.0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94.9 ± 3.8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2552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± std over LOSO folds. Bold = better method.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397764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BEDED"/>
          </a:solidFill>
          <a:ln w="12700">
            <a:solidFill>
              <a:srgbClr val="E8C4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full antenna array, both methods are near-perfect on every phantom. The CNN stays at 100% on F5; the MLP gives up ~5 points there under pipeline v2.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SPATIAL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Locations: all 4 antennas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color</a:t>
            </a:r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how strongly the tumor physically changes the signal (detectable difference).   </a:t>
            </a:r>
            <a:pPr indent="0" marL="0">
              <a:buNone/>
            </a:pPr>
            <a:r>
              <a:rPr lang="en-US" sz="125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size</a:t>
            </a:r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CNN LOSO accuracy at that position.   Dashed outline = glandular insert.</a:t>
            </a:r>
            <a:endParaRPr lang="en-US" sz="1250" dirty="0"/>
          </a:p>
        </p:txBody>
      </p:sp>
      <p:pic>
        <p:nvPicPr>
          <p:cNvPr id="5" name="Image 0" descr="assets/dd_all_h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804672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72744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Detectable change still dips inside the glandular insert (blue), but with 16 complementary views the classifier compensates: accuracy dots stay large almost everywhere. MLP versions look qualitatively identical.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RAW INPUTS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4 antennas: reflection only (S11, S22, S33, S44)</a:t>
            </a:r>
            <a:endParaRPr lang="en-US" sz="2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737360"/>
                <a:gridCol w="173736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Phantom setup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− MLP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Empty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 ± 1.1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 ± 0.9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 ± 3.9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 ± 3.9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± 0.0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91.9 ± 3.8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2552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through-phantom transmission paths; each antenna only listens to its own echo.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397764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BEDED"/>
          </a:solidFill>
          <a:ln w="12700">
            <a:solidFill>
              <a:srgbClr val="E8C4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transmission barely touches the CNN (F5 stays at 100%), while the MLP gives up 3-5 points on the glandular phantoms. Four reflection coefficients are enough for a CNN.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SPATIAL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Locations: all 4 antennas, reflection only</a:t>
            </a:r>
            <a:endParaRPr lang="en-US" sz="2500" dirty="0"/>
          </a:p>
        </p:txBody>
      </p:sp>
      <p:pic>
        <p:nvPicPr>
          <p:cNvPr id="4" name="Image 0" descr="assets/dd_refl_all_h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804672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389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Reflection-only detectable change (max of S11, S22, S33, S44). The insert still carves a low-signal pocket, but CNN accuracy dots stay large.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RAW INPUTS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antennas (ports 1 &amp; 3): full S-parameters</a:t>
            </a:r>
            <a:endParaRPr lang="en-US" sz="2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737360"/>
                <a:gridCol w="173736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Phantom setup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− MLP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Empty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 ± 1.1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 ± 0.9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96.8 ± 2.5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96.8 ± 2.1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 ± 5.3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84.9 ± 6.6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2552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Antennas 1 &amp; 3 sit on opposite sides of the phantom (most informative pair).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397764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BEDED"/>
          </a:solidFill>
          <a:ln w="12700">
            <a:solidFill>
              <a:srgbClr val="E8C4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Halving the antennas separates the methods on F5: the CNN holds 97% while the MLP drops to 85%. On F4 the two are tied under pipeline v2.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SPATIAL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Locations: 2 antennas (1 &amp; 3)</a:t>
            </a:r>
            <a:endParaRPr lang="en-US" sz="2500" dirty="0"/>
          </a:p>
        </p:txBody>
      </p:sp>
      <p:pic>
        <p:nvPicPr>
          <p:cNvPr id="4" name="Image 0" descr="assets/dd_pair_h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804672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389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two antennas a low-signal pocket appears inside the glandular insert, and accuracy dots shrink with it.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RAW INPUTS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antennas (1 &amp; 3): reflection only (S11, S33)</a:t>
            </a:r>
            <a:endParaRPr lang="en-US" sz="2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737360"/>
                <a:gridCol w="173736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Phantom setup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− MLP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Empty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 ± 1.1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 ± 0.9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91.7 ± 2.5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92.3 ± 3.6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92.9 ± 4.6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80.8 ± 7.1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2552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toughest 2-antenna condition: two reflection coefficients and nothing else.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397764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BEDED"/>
          </a:solidFill>
          <a:ln w="12700">
            <a:solidFill>
              <a:srgbClr val="E8C4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CNN holds 92-99% while the MLP falls to 81% on F5. F4 remains the single config in the study where the MLP edges the CNN (92.3 vs 91.7).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SPATIAL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Locations: 2 antennas (1 &amp; 3), reflection only</a:t>
            </a:r>
            <a:endParaRPr lang="en-US" sz="2500" dirty="0"/>
          </a:p>
        </p:txBody>
      </p:sp>
      <p:pic>
        <p:nvPicPr>
          <p:cNvPr id="4" name="Image 0" descr="assets/dd_refl_pair_h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804672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389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S11 and S33, the low-signal pocket deepens and CNN errors start to appear inside the insert.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RAW INPUTS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antenna: S11 only</a:t>
            </a:r>
            <a:endParaRPr lang="en-US" sz="25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737360"/>
                <a:gridCol w="173736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Phantom setup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− MLP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Empty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 ± 1.1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 ± 0.9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92.9 ± 7.4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90.4 ± 8.0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72.7 ± 6.1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64.7 ± 5.7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2552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reflection coefficient: the minimal possible hardware.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397764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BEDED"/>
          </a:solidFill>
          <a:ln w="12700">
            <a:solidFill>
              <a:srgbClr val="E8C4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extreme case: one antenna, one S-parameter. The CNN holds 73–99%; the MLP falls to 65% on F5. The gap grows as the task gets harder, and the F5 errors cluster inside the glandular insert (next slide).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SPATIAL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Locations: 1 antenna (S11)</a:t>
            </a:r>
            <a:endParaRPr lang="en-US" sz="2500" dirty="0"/>
          </a:p>
        </p:txBody>
      </p:sp>
      <p:pic>
        <p:nvPicPr>
          <p:cNvPr id="4" name="Image 0" descr="assets/dd_single_h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804672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389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antenna (S11): small blue dots cluster inside the insert. Where physics buries the tumor, the classifier fails.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D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1847088"/>
            <a:ext cx="64008" cy="1051560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1874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41248" y="2212848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Physics-informed features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841248" y="2999232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Squeezing more out of the same measurement: no new hardware, no new data collection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complex measurement, five physical views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calibrated S-parameter Y(f) is one complex spectrum. From it we derive, at zero measurement cost:  magnitude &amp; phase (resonance behaviour), real &amp; imaginary parts (full complex information), and the inverse-FFT envelope, a time-domain reflectometry (TDR) view where the tumor appears as an echo at its round-trip delay.</a:t>
            </a:r>
            <a:endParaRPr lang="en-US" sz="1350" dirty="0"/>
          </a:p>
        </p:txBody>
      </p:sp>
      <p:pic>
        <p:nvPicPr>
          <p:cNvPr id="5" name="Image 0" descr="assets/derived_chann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286000"/>
            <a:ext cx="8321040" cy="1399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 A3+F5 phantom, S11, tumor at grid position R3C4 (calibrated response Y)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57200" y="416052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BEDED"/>
          </a:solidFill>
          <a:ln w="12700">
            <a:solidFill>
              <a:srgbClr val="E8C4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41605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'physics' input feeds all five views to both models: the CNN as extra image rows, the MLP as extra vector features. Identical information, matched again.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tests, physics inputs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13385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All-4-antenna physics: both models at ceiling, 97–100% (F5 reaches 100 / 100). Below: the configs where it matters. Reflection-only: next slide.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481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antennas (1 &amp; 3), physics input</a:t>
            </a:r>
            <a:endParaRPr lang="en-US" sz="14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73936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737360"/>
                <a:gridCol w="173736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Phantom setup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− MLP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Empty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 ± 1.1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 ± 0.9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 ± 2.6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97.4 ± 2.6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 ± 1.8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89.9 ± 7.6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2552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antenna (S11), physics input</a:t>
            </a:r>
            <a:endParaRPr lang="en-US" sz="1400" dirty="0"/>
          </a:p>
        </p:txBody>
      </p:sp>
      <p:graphicFrame>
        <p:nvGraphicFramePr>
          <p:cNvPr id="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47872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737360"/>
                <a:gridCol w="173736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Phantom setup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− MLP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Empty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 ± 1.1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 ± 1.9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 ± 3.2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 ± 4.6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76.8 ± 3.5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66.7 ± 8.9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 only + physics features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1521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antennas, reflection only (S11, S22, S33, S44), physics input</a:t>
            </a:r>
            <a:endParaRPr lang="en-US" sz="1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44752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737360"/>
                <a:gridCol w="173736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Phantom setup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− MLP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Empty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 ± 1.1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 ± 0.9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 ± 3.3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94.2 ± 2.8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± 0.0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88.9 ± 5.2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+11.1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8712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antennas (1 &amp; 3), reflection only (S11, S33), physics input</a:t>
            </a:r>
            <a:endParaRPr lang="en-US" sz="1400" dirty="0"/>
          </a:p>
        </p:txBody>
      </p:sp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63824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737360"/>
                <a:gridCol w="173736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Phantom setup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− MLP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Empty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 ± 1.1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 ± 1.6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94.2 ± 2.5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91.7 ± 4.6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 ± 3.5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81.8 ± 4.3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+16.2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590288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BEDED"/>
          </a:solidFill>
          <a:ln w="12700">
            <a:solidFill>
              <a:srgbClr val="E8C4C4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58368" y="45902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physics features, reflection-only costs the CNN almost nothing (F5: 100% with four antennas, 98% with two); the MLP pays 8-11 points. A reflection-only system is practical with a CNN.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derived features buy, and what TDR alone can't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vs raw (percentage points gained)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F5, 2 antennas:  CNN +2.0 (97→99) · MLP +5.1 (85→90)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F5, 1 antenna:   CNN +4.0 (73→77) · MLP +2.0 (65→67)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F5, all 4:            MLP +4.0 (95→99); CNN already at 100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setups (empty, F4 full-array): no change, already at ceiling.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features help most exactly where raw inputs struggle.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34564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TDR-only ablation (selected)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77647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F4, 1 antenna: CNN 55 / MLP 64  (vs 93 / 90 raw): a big loss for both.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TDR is where v2 hurts: removing the mean subtraction leaves coherent session clutter in the envelope (CNN F5-pair tdr fell 79→63).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23560" y="1280160"/>
            <a:ext cx="3108960" cy="3657600"/>
          </a:xfrm>
          <a:prstGeom prst="roundRect">
            <a:avLst>
              <a:gd name="adj" fmla="val 2353"/>
            </a:avLst>
          </a:prstGeom>
          <a:solidFill>
            <a:srgbClr val="FBEDED"/>
          </a:solidFill>
          <a:ln w="12700">
            <a:solidFill>
              <a:srgbClr val="E8C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0" y="14630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finding: hierarchical (quadrant → position) classification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806440" y="2240280"/>
            <a:ext cx="2788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'find the corner first' scheme tested on both models.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helps, and hurts the hardest cases: CNN −6 on F5, MLP −6 on F4-single.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quadrant = unrecoverable. Single-stage wins under LOSO.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removing the mean subtraction changed (v1 vs v2)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MLP: clear gains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4023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single raw:  58.6 → 64.7  (+6.1)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refl-pair raw:  74.8 → 80.8  (+6.1)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pair physics:  92.3 → 97.4  (+5.1)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pair physics:  85.9 → 89.9  (+4.0)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pair raw:  93.6 → 96.8  (+3.2)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phantom: unchanged (ceiling).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709160" y="12344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CNN: mixed, mostly neutral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09160" y="1554480"/>
            <a:ext cx="4023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raw / physics configs: within ±1 point of v1.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Single-antenna dips: F4 raw 96.8 → 92.9, F5 raw 75.8 → 72.7, F5 physics 79.8 → 76.8.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TDR-only suffers badly: F5 pair 78.8 → 62.6; F4 single 84.0 → 55.1 (a fold collapse returns).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406908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FBEDED"/>
          </a:solidFill>
          <a:ln w="12700">
            <a:solidFill>
              <a:srgbClr val="E8C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406908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the mean subtraction was redundant for frequency-domain inputs once the per-session z-score exists (the MLP gains by dropping it), but TDR inputs genuinely need it: coherent session clutter must be removed BEFORE the envelope is computed. Best practice going forward: skip it for raw/physics, keep it for TDR.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356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≥ MLP, everywhere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85800" y="18013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matched inputs the CNN ties easy cases and wins hard ones by up to 16 points.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132588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4356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grows with difficulty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937760" y="18013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antennas + bigger glandular insert = bigger CNN advantage.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26243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drives robustness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85800" y="29900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Per-session z-score eliminated the CNN's cross-session failures; the v1 mean-sub step proved unnecessary.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251460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26243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features add accuracy at no cost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937760" y="29900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views (+TDR) add up to 4 points on the hardest configurations.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8130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follow the physics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85800" y="417880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cluster inside the glandular insert, where detectable signal change collapses.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370332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38130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antennas is viable with a CNN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4937760" y="417880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antennas: 97–99% on every phantom. Even 1 antenna: 73–99%.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 vs MLP - Tumor Localization in Breast Phantoms</dc:title>
  <dc:subject>PptxGenJS Presentation</dc:subject>
  <dc:creator>Peter Martin</dc:creator>
  <cp:lastModifiedBy>Peter Martin</cp:lastModifiedBy>
  <cp:revision>1</cp:revision>
  <dcterms:created xsi:type="dcterms:W3CDTF">2026-07-21T16:32:57Z</dcterms:created>
  <dcterms:modified xsi:type="dcterms:W3CDTF">2026-07-21T16:32:57Z</dcterms:modified>
</cp:coreProperties>
</file>