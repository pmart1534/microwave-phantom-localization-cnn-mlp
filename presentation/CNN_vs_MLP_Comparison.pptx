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jpg"/><Relationship Id="rId3" Type="http://schemas.openxmlformats.org/officeDocument/2006/relationships/image" Target="../media/image-14-3.jp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389888"/>
            <a:ext cx="64008" cy="1481328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4173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LOCALIZATION IN BREAST PHANTOMS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41248" y="1783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vs MLP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41248" y="283464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matched, head-to-head comparison of two machine-learning approaches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microwave tumor localization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4343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Peter Martin  ·  University of Utah  ·  Electrical &amp; Computer Engineering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" y="46817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 v1 (includes session-mean subtraction)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hidden tumor inside a breast phantom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3258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locate a small tumor surrogate (metal fishing weight) placed inside a realistic breast phantom, without opening it up.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Microwave imaging: low-cost, non-ionizing alternative screening modality.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tumor perturbs how microwaves reflect and transmit through the tissue, but the change is tiny and buried in drift and noise.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case: a glandular insert (dense tissue) further masks the tumor signal.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Task: given one measurement, which of ~33–51 grid positions holds the tumor?</a:t>
            </a:r>
            <a:endParaRPr lang="en-US" sz="1400" dirty="0"/>
          </a:p>
        </p:txBody>
      </p:sp>
      <p:pic>
        <p:nvPicPr>
          <p:cNvPr id="5" name="Image 0" descr="assets/phantom_f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234440"/>
            <a:ext cx="3291840" cy="29352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0" y="4224528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breast phantom with F5 glandular insert and measurement grid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 a machine learn the fingerprint of every position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 inverse-scattering reconstruction is slow and fragile. Instead, we treat localization as a pattern-recognition problem: measure the phantom with the tumor at every known position, then train a model to recognise each position's electromagnetic fingerprint.</a:t>
            </a:r>
            <a:endParaRPr lang="en-US" sz="1400" dirty="0"/>
          </a:p>
        </p:txBody>
      </p:sp>
      <p:pic>
        <p:nvPicPr>
          <p:cNvPr id="5" name="Image 0" descr="assets/setup_flo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148840"/>
            <a:ext cx="8321040" cy="14813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82296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S-parameters per sweep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47472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791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347472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 points, 0.1–8 GHz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126480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~2–3%</a:t>
            </a:r>
            <a:endParaRPr lang="en-US" sz="3400" dirty="0"/>
          </a:p>
        </p:txBody>
      </p:sp>
      <p:sp>
        <p:nvSpPr>
          <p:cNvPr id="11" name="Text 8"/>
          <p:cNvSpPr/>
          <p:nvPr/>
        </p:nvSpPr>
        <p:spPr>
          <a:xfrm>
            <a:off x="6126480" y="44074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chance-level accuracy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measurement, the two models, and how they differ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physical measurement</a:t>
            </a:r>
            <a:endParaRPr lang="en-US" sz="2500" dirty="0"/>
          </a:p>
        </p:txBody>
      </p:sp>
      <p:pic>
        <p:nvPicPr>
          <p:cNvPr id="4" name="Image 0" descr="assets/phantom_emp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3108960" cy="31455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65760" y="4462272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A3 phantom: adipose bowl, 6×6 in grid, 4 antennas at the rim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886200" y="1325880"/>
            <a:ext cx="484632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4-port Hunter VNA sweeps 0.1–8 GHz (791 points) through 4 antennas around the phantom.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sweep captures all 16 S-parameters: 4 reflections (S11…S44) plus transmissions between every antenna pair.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Tumor surrogate is moved through a grid of cell corner positions; 16 repeat trials per position.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(empty-phantom) sweeps recorded each session for calibration.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setup measured in 3–4 independent sessions on different setups/times; this matters later (LOSO).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ways to turn a measurement into a position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070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receive the SAME preprocessed measurement and output a probability for every grid position. They differ in how they look at the data.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87452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Neural Network  ·  MATLAB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283464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measurement as a 2-D image: y axis = channels, x axis = frequency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 filters slide along frequency, learning local patterns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874520"/>
            <a:ext cx="397764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88900" dist="25400" dir="2700000">
              <a:srgbClr val="000000">
                <a:alpha val="14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83480" y="205740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4983480" y="245059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Perceptron  ·  Python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10328" y="2834640"/>
            <a:ext cx="361188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measurement as one long flattened vector of numbers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input connects to every neuron: the network has no built-in idea that neighboring frequencies are related, so any such structure must be learned from scratch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CNN</a:t>
            </a:r>
            <a:endParaRPr lang="en-US" sz="2500" dirty="0"/>
          </a:p>
        </p:txBody>
      </p:sp>
      <p:pic>
        <p:nvPicPr>
          <p:cNvPr id="4" name="Image 0" descr="assets/cnn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an image: one row per data channel (e.g. |S11|, ∠S11, …), one column per frequency point (791).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convolution layers (32 filters each) detect local patterns such as resonance shifts and ripples anywhere along the spectrum, sharing weights across frequency.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Batch-normalisation + ReLU after every layer; 30% dropout fights overfitting.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network, trained 100 epochs with Adam (batch 16) on the GPU; softmax outputs one probability per grid position.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MLP</a:t>
            </a:r>
            <a:endParaRPr lang="en-US" sz="2500" dirty="0"/>
          </a:p>
        </p:txBody>
      </p:sp>
      <p:pic>
        <p:nvPicPr>
          <p:cNvPr id="4" name="Image 0" descr="assets/mlp_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34440"/>
            <a:ext cx="8412480" cy="1874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2461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is a flat vector: all channels and frequencies concatenated (thousands of features). No spatial structure is assumed.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dense layers (256 → 128, ReLU): every feature can interact with every other, but nothing is shared or localized.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on a held-out validation split prevents overtraining.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3 networks with different random seeds are averaged, plus a logistic-regression model; the ensemble vote is the prediction.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vs MLP: structural differences</a:t>
            </a:r>
            <a:endParaRPr lang="en-US" sz="2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17320"/>
          <a:ext cx="82296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63240"/>
                <a:gridCol w="30632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it sees data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2-D image (channels × frequency)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1-D flattened vector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Inductive bias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Local patterns, shared across frequency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None; fully general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conv filters + FC (~0.5–2 M)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Huge first layer (features × 256)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100 epochs, single network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stopping, 3-seed ensemble + LogReg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MATLAB Deep Learning Toolbox (GPU)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scikit-learn (CPU)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43434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4343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job, opposite philosophies: the CNN assumes frequency-local structure; the MLP assumes nothing. Everything else in this study is held identical.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data pipeline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to a measurement before any 'AI' ever sees it. Identical for both models.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steps from raw sweep to model input</a:t>
            </a:r>
            <a:endParaRPr lang="en-US" sz="2500" dirty="0"/>
          </a:p>
        </p:txBody>
      </p:sp>
      <p:pic>
        <p:nvPicPr>
          <p:cNvPr id="4" name="Image 0" descr="assets/pipel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298448"/>
            <a:ext cx="8412480" cy="20848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5204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remove everything that is not the tumor; step 4 (per-session z-score) is the key drift defense: each session is standardized by its own statistics. Applied identically to CNN and MLP.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Upgrading the CNN to this pipeline was worth +17 pts on F5 single-antenna (59→76%) with fold-to-fold σ cut from 40% to 9%, and +15 pts on F4 single-antenna (82→97%). Its catastrophic cross-session failures disappeared entirely.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input representations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BEDED"/>
          </a:solidFill>
          <a:ln w="19050">
            <a:solidFill>
              <a:srgbClr val="BE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58368" y="19019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Magnitude + phase of each calibrated S-parameter.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measurement as the VNA reports it. Used for the main results.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46120" y="137160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4728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47288" y="19019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real &amp; imaginary parts and the IFFT time-domain (TDR) envelope.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at no cost from the same data; covered at the end.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35040" y="1371600"/>
            <a:ext cx="2651760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36208" y="151790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TDR-ONLY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236208" y="1901952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the time-domain envelope, a pulse-echo view.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ablation: how much lives in time domain alone?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numbers, two shapes: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3712464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CNN: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channels stacked as image rows × 791 frequency columns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MLP:  </a:t>
            </a:r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rows laid end-to-end as one long vector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343400"/>
            <a:ext cx="8229600" cy="566928"/>
          </a:xfrm>
          <a:prstGeom prst="roundRect">
            <a:avLst>
              <a:gd name="adj" fmla="val 967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434340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 subsets work the same way: '2 antennas' keeps only S-parameters among ports 1 &amp; 3; '1 antenna' keeps only S11.</a:t>
            </a:r>
            <a:endParaRPr lang="en-US" sz="13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score: Leave-One-Session-Out</a:t>
            </a:r>
            <a:endParaRPr lang="en-US" sz="2500" dirty="0"/>
          </a:p>
        </p:txBody>
      </p:sp>
      <p:pic>
        <p:nvPicPr>
          <p:cNvPr id="4" name="Image 0" descr="assets/los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80160"/>
            <a:ext cx="7955280" cy="2423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490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75/25 split mixes trials from the same session into train AND test, so the model can cheat off session drift, inflating accuracy.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 trains on N−1 sessions and tests on the session it has never seen; every session takes a turn. We report per-position majority vote over its 16 trials.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thoroughly stress-tested LOSO and verified that it works: under LOSO, models cannot exploit session drift, and drift-only information scores near chance.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phantom setups, increasing difficulty</a:t>
            </a:r>
            <a:endParaRPr lang="en-US" sz="2500" dirty="0"/>
          </a:p>
        </p:txBody>
      </p:sp>
      <p:pic>
        <p:nvPicPr>
          <p:cNvPr id="4" name="Image 0" descr="assets/phantom_emp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2651760" cy="268833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Empty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adipose only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 positions · 3 sessions</a:t>
            </a:r>
            <a:endParaRPr lang="en-US" sz="1100" dirty="0"/>
          </a:p>
        </p:txBody>
      </p:sp>
      <p:pic>
        <p:nvPicPr>
          <p:cNvPr id="7" name="Image 1" descr="assets/phantom_f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6120" y="1371600"/>
            <a:ext cx="2651760" cy="23682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4612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+ F4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315468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glandular insert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 positions · 4 sessions</a:t>
            </a:r>
            <a:endParaRPr lang="en-US" sz="1100" dirty="0"/>
          </a:p>
        </p:txBody>
      </p:sp>
      <p:pic>
        <p:nvPicPr>
          <p:cNvPr id="10" name="Image 2" descr="assets/phantom_f5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1371600"/>
            <a:ext cx="2651760" cy="236829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5040" y="3794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A3 + F5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5943600" y="4114800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glandular insert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positions · 3 sessions (latest)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Per-position vote accuracy (%) under LOSO · identical raw inputs (mag + phase) · chance = 2–3%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antennas: full S-parameters (16)</a:t>
            </a:r>
            <a:endParaRPr lang="en-US" sz="25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 ± 3.0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97.4 ± 1.8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 ± 2.9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± std over LOSO folds. Bold = better method.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full antenna array, both methods are near-perfect on every phantom; drift and glandular masking are fully compensated. CNN edges ahead on the hardest setup (F5).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all 4 antennas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color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how strongly the tumor physically changes the signal (detectable difference).   </a:t>
            </a:r>
            <a:pPr indent="0" marL="0">
              <a:buNone/>
            </a:pPr>
            <a:r>
              <a:rPr lang="en-US" sz="12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size</a:t>
            </a:r>
            <a:pPr indent="0" marL="0">
              <a:buNone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CNN LOSO accuracy at that position.   Dashed outline = glandular insert.</a:t>
            </a:r>
            <a:endParaRPr lang="en-US" sz="1250" dirty="0"/>
          </a:p>
        </p:txBody>
      </p:sp>
      <p:pic>
        <p:nvPicPr>
          <p:cNvPr id="5" name="Image 0" descr="assets/dd_all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55648"/>
            <a:ext cx="804672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72744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Detectable change still dips inside the glandular insert (blue), but with 16 complementary views the classifier compensates: accuracy dots stay large almost everywhere. MLP versions look qualitatively identical.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4 antennas: reflection only (S11, S22, S33, S44)</a:t>
            </a:r>
            <a:endParaRPr lang="en-US" sz="25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± 1.5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 ± 4.3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88.9 ± 2.9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through-phantom transmission paths; each antenna only listens to its own echo.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Dropping transmission barely touches the CNN (F5 stays at 100%), while the MLP gives up 4-7 points on the glandular phantoms. Four reflection coefficients are enough for a CNN.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all 4 antennas, reflection only</a:t>
            </a:r>
            <a:endParaRPr lang="en-US" sz="2500" dirty="0"/>
          </a:p>
        </p:txBody>
      </p:sp>
      <p:pic>
        <p:nvPicPr>
          <p:cNvPr id="4" name="Image 0" descr="assets/dd_refl_all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Reflection-only detectable change (max of S11, S22, S33, S44). The insert still carves a low-signal pocket, but CNN accuracy dots stay large.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antennas (ports 1 &amp; 3): full S-parameters</a:t>
            </a:r>
            <a:endParaRPr lang="en-US" sz="25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 ± 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 ± 4.3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 ± 7.0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81.8 ± 4.3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Antennas 1 &amp; 3 sit on opposite sides of the phantom (most informative pair).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Halving the antennas separates the methods: the CNN stays high (96%+ everywhere) while the MLP drops 14 points on F5. Convolutional structure extracts more from less hardware.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2 antennas (1 &amp; 3)</a:t>
            </a:r>
            <a:endParaRPr lang="en-US" sz="2500" dirty="0"/>
          </a:p>
        </p:txBody>
      </p:sp>
      <p:pic>
        <p:nvPicPr>
          <p:cNvPr id="4" name="Image 0" descr="assets/dd_pair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antennas a low-signal pocket appears inside the glandular insert, and accuracy dots shrink with it.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antennas (1 &amp; 3): reflection only (S11, S33)</a:t>
            </a:r>
            <a:endParaRPr lang="en-US" sz="25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± 5.9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93.6 ± 5.9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90.9 ± 5.3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 ± 6.2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toughest 2-antenna condition: two reflection coefficients and nothing else.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CNN holds 91-99% while the MLP falls to 75% on F5. F4 is the single config in the study where the MLP edges the CNN (93.6 vs 92.3).</a:t>
            </a:r>
            <a:endParaRPr lang="en-US" sz="13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2 antennas (1 &amp; 3), reflection only</a:t>
            </a:r>
            <a:endParaRPr lang="en-US" sz="2500" dirty="0"/>
          </a:p>
        </p:txBody>
      </p:sp>
      <p:pic>
        <p:nvPicPr>
          <p:cNvPr id="4" name="Image 0" descr="assets/dd_refl_pair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S11 and S33, the low-signal pocket deepens and CNN errors start to appear inside the insert.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RAW INPUTS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antenna: S11 only</a:t>
            </a:r>
            <a:endParaRPr lang="en-US" sz="25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 ± 2.0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96.8 ± 4.9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91.0 ± 5.6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 ± 9.1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58.6 ± 9.4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3255264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reflection coefficient: the minimal possible hardware.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57200" y="3977640"/>
            <a:ext cx="8229600" cy="822960"/>
          </a:xfrm>
          <a:prstGeom prst="roundRect">
            <a:avLst>
              <a:gd name="adj" fmla="val 6667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58368" y="39776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extreme case: one antenna, one S-parameter. The CNN holds 76–98%; the MLP falls to 59% on F5. The gap grows exactly as the task gets harder, and the F5 errors cluster inside the glandular insert (next slide).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· SPATIAL 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Locations: 1 antenna (S11)</a:t>
            </a:r>
            <a:endParaRPr lang="en-US" sz="2500" dirty="0"/>
          </a:p>
        </p:txBody>
      </p:sp>
      <p:pic>
        <p:nvPicPr>
          <p:cNvPr id="4" name="Image 0" descr="assets/dd_single_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5880"/>
            <a:ext cx="80467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3891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antenna (S11): small blue dots cluster inside the insert. Where physics buries the tumor, the classifier fails.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D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3" name="Shape 1"/>
          <p:cNvSpPr/>
          <p:nvPr/>
        </p:nvSpPr>
        <p:spPr>
          <a:xfrm>
            <a:off x="621792" y="1847088"/>
            <a:ext cx="64008" cy="1051560"/>
          </a:xfrm>
          <a:prstGeom prst="rect">
            <a:avLst/>
          </a:prstGeom>
          <a:solidFill>
            <a:srgbClr val="BE0000"/>
          </a:solidFill>
          <a:ln/>
        </p:spPr>
      </p:sp>
      <p:sp>
        <p:nvSpPr>
          <p:cNvPr id="4" name="Text 2"/>
          <p:cNvSpPr/>
          <p:nvPr/>
        </p:nvSpPr>
        <p:spPr>
          <a:xfrm>
            <a:off x="841248" y="1874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841248" y="2212848"/>
            <a:ext cx="7680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Physics-informed features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841248" y="2999232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36A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Squeezing more out of the same measurement: no new hardware, no new data collection</a:t>
            </a:r>
            <a:endParaRPr lang="en-US" sz="13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complex measurement, five physical views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calibrated S-parameter Y(f) is one complex spectrum. From it we derive, at zero measurement cost:  magnitude &amp; phase (resonance behaviour), real &amp; imaginary parts (full complex information), and the inverse-FFT envelope, a time-domain reflectometry (TDR) view where the tumor appears as an echo at its round-trip delay.</a:t>
            </a:r>
            <a:endParaRPr lang="en-US" sz="1350" dirty="0"/>
          </a:p>
        </p:txBody>
      </p:sp>
      <p:pic>
        <p:nvPicPr>
          <p:cNvPr id="5" name="Image 0" descr="assets/derived_channel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286000"/>
            <a:ext cx="8321040" cy="1399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example: A3+F5 phantom, S11, tumor at grid position R3C4 (calibrated response Y)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457200" y="4160520"/>
            <a:ext cx="8229600" cy="685800"/>
          </a:xfrm>
          <a:prstGeom prst="roundRect">
            <a:avLst>
              <a:gd name="adj" fmla="val 8000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41605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'physics' input feeds all five views to both models: the CNN as extra image rows, the MLP as extra vector features. Identical information, matched again.</a:t>
            </a:r>
            <a:endParaRPr lang="en-US" sz="13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tests, physics inputs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33856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E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All-4-antenna physics: both models at ceiling, 97–100% (F5 reaches 100 / 100). Below: the configs where it matters. Reflection-only: next slide.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antennas (1 &amp; 3), physics input</a:t>
            </a:r>
            <a:endParaRPr lang="en-US" sz="14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73936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 ± 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92.3 ± 3.1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+5.8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 ± 3.5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85.9 ± 7.6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325526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antenna (S11), physics input</a:t>
            </a:r>
            <a:endParaRPr lang="en-US" sz="1400" dirty="0"/>
          </a:p>
        </p:txBody>
      </p:sp>
      <p:graphicFrame>
        <p:nvGraphicFramePr>
          <p:cNvPr id="5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547872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± 1.1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± 1.8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95.5 ± 4.4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91.7 ± 5.8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 ± 3.5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62.6 ± 8.0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Reflection only + physics features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152144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antennas, reflection only (S11, S22, S33, S44), physics input</a:t>
            </a:r>
            <a:endParaRPr lang="en-US" sz="14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44752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 ± 0.9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98.1 ± 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 ± 3.3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 ± 6.6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+12.1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28712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antennas (1 &amp; 3), reflection only (S11, S33), physics input</a:t>
            </a:r>
            <a:endParaRPr lang="en-US" sz="1400" dirty="0"/>
          </a:p>
        </p:txBody>
      </p:sp>
      <p:graphicFrame>
        <p:nvGraphicFramePr>
          <p:cNvPr id="5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63824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737360"/>
                <a:gridCol w="1737360"/>
                <a:gridCol w="1097280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Phantom setup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Positions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 (%)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− MLP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E000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Empty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 ± 0.0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 ± 1.9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94.2 ± 3.2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90.4 ± 3.3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+3.8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A3 + F5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6E6E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33-way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 ± 5.3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 ± 7.6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BE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+17.2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4590288"/>
            <a:ext cx="8229600" cy="457200"/>
          </a:xfrm>
          <a:prstGeom prst="roundRect">
            <a:avLst>
              <a:gd name="adj" fmla="val 12000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8368" y="459028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physics features, reflection-only costs the CNN almost nothing (F5: 100% with four antennas, 97% with two); the MLP pays 8-12 points. A reflection-only system is practical with a CNN.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derived features buy, and what TDR alone can't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57200" y="123444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vs raw (percentage points gained)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1572768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2 antennas:  CNN +2.0 (96→98) · MLP +4.1 (82→86)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1 antenna:   CNN +4.0 (76→80) · MLP +4.0 (59→63)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F5, all 4:            MLP +4.0 (96→100), joining CNN at 100%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setups (empty, F4 full-array): no change, already at ceiling.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features help most exactly where raw inputs struggle.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" y="345643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TDR-only ablation (selected)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776472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F4, 1 antenna: CNN 84 / MLP 64  (vs 97 / 91 raw): a big loss for both.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CNN mines far more from TDR alone (F5 all-4: 98 vs MLP's 76).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23560" y="1280160"/>
            <a:ext cx="3108960" cy="3657600"/>
          </a:xfrm>
          <a:prstGeom prst="roundRect">
            <a:avLst>
              <a:gd name="adj" fmla="val 2353"/>
            </a:avLst>
          </a:prstGeom>
          <a:solidFill>
            <a:srgbClr val="FBEDED"/>
          </a:solidFill>
          <a:ln w="12700">
            <a:solidFill>
              <a:srgbClr val="E8C4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1463040"/>
            <a:ext cx="2697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finding: hierarchical (quadrant → position) classification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806440" y="2240280"/>
            <a:ext cx="2788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'find the corner first' scheme tested on both models.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never helps, and hurts the hardest cases: CNN −6 on F5, MLP −6 on F4-single.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quadrant = unrecoverable. Single-stage wins under LOSO.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512064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b="1" dirty="0">
                <a:solidFill>
                  <a:srgbClr val="2A16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learned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435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≥ MLP, everywhere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8580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matched inputs the CNN ties easy cases and wins hard ones by up to 17 points.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709160" y="132588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435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grows with difficulty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37760" y="180136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antennas + bigger glandular insert = bigger CNN advantage.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85800" y="2624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drives robustness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85800" y="2990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Per-session z-score eliminated the CNN's catastrophic cross-session failures.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09160" y="251460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37760" y="262432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 features add accuracy at no cost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37760" y="299008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views (+TDR) add up to 4 points on the hardest configurations.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37033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85800" y="3813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follow the physics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8580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Misses cluster inside the glandular insert, where detectable signal change collapses.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703320"/>
            <a:ext cx="39776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76200" dist="25400" dir="2700000">
              <a:srgbClr val="000000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37760" y="381304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BE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antennas is viable with a CNN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937760" y="4178808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antennas: 96–98% on every phantom. Even 1 antenna: 76–98%.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CNN vs MLP - Tumor Localization in Breast Phantoms</dc:title>
  <dc:subject>PptxGenJS Presentation</dc:subject>
  <dc:creator>Peter Martin</dc:creator>
  <cp:lastModifiedBy>Peter Martin</cp:lastModifiedBy>
  <cp:revision>1</cp:revision>
  <dcterms:created xsi:type="dcterms:W3CDTF">2026-07-21T16:32:57Z</dcterms:created>
  <dcterms:modified xsi:type="dcterms:W3CDTF">2026-07-21T16:32:57Z</dcterms:modified>
</cp:coreProperties>
</file>