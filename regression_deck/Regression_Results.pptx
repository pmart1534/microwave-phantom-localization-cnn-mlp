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(raw)</c:v>
                </c:pt>
              </c:strCache>
            </c:strRef>
          </c:tx>
          <c:spPr>
            <a:solidFill>
              <a:srgbClr val="0B5D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0.156</c:v>
                </c:pt>
                <c:pt idx="1">
                  <c:v>0.167</c:v>
                </c:pt>
                <c:pt idx="2">
                  <c:v>0.221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 (raw)</c:v>
                </c:pt>
              </c:strCache>
            </c:strRef>
          </c:tx>
          <c:spPr>
            <a:solidFill>
              <a:srgbClr val="E0A1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0.481</c:v>
                </c:pt>
                <c:pt idx="1">
                  <c:v>0.695</c:v>
                </c:pt>
                <c:pt idx="2">
                  <c:v>0.759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predict-centre (chance)</c:v>
                </c:pt>
              </c:strCache>
            </c:strRef>
          </c:tx>
          <c:spPr>
            <a:solidFill>
              <a:srgbClr val="C3CE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1.34</c:v>
                </c:pt>
                <c:pt idx="1">
                  <c:v>1.73</c:v>
                </c:pt>
                <c:pt idx="2">
                  <c:v>1.3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EAF0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pooled (all sessions)</c:v>
                </c:pt>
              </c:strCache>
            </c:strRef>
          </c:tx>
          <c:spPr>
            <a:solidFill>
              <a:srgbClr val="1C9A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0.448</c:v>
                </c:pt>
                <c:pt idx="1">
                  <c:v>0.482</c:v>
                </c:pt>
                <c:pt idx="2">
                  <c:v>0.664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in-session (drift removed)</c:v>
                </c:pt>
              </c:strCache>
            </c:strRef>
          </c:tx>
          <c:spPr>
            <a:solidFill>
              <a:srgbClr val="9AC7C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0.661</c:v>
                </c:pt>
                <c:pt idx="1">
                  <c:v>0.609</c:v>
                </c:pt>
                <c:pt idx="2">
                  <c:v>0.753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AF0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</c:v>
                </c:pt>
              </c:strCache>
            </c:strRef>
          </c:tx>
          <c:spPr>
            <a:solidFill>
              <a:srgbClr val="2CC4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C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C4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+mixup</c:v>
                  </c:pt>
                  <c:pt idx="2">
                    <c:v>+posval</c:v>
                  </c:pt>
                  <c:pt idx="3">
                    <c:v>+mix&amp;pos</c:v>
                  </c:pt>
                  <c:pt idx="4">
                    <c:v>+heatmap</c:v>
                  </c:pt>
                  <c:pt idx="5">
                    <c:v>+heat&amp;mix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0.664</c:v>
                </c:pt>
                <c:pt idx="1">
                  <c:v>0.572</c:v>
                </c:pt>
                <c:pt idx="2">
                  <c:v>0.927</c:v>
                </c:pt>
                <c:pt idx="3">
                  <c:v>0.722</c:v>
                </c:pt>
                <c:pt idx="4">
                  <c:v>0.895</c:v>
                </c:pt>
                <c:pt idx="5">
                  <c:v>0.865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AF0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B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C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 ( x , y )  LOCALIZATION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results on the A3 phantom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target's exact inch-coordinate — CNN vs MLP, under honest cross-validation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 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cross-session error (CNN)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3–4×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43484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interpolate an unseen spot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0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046720" y="5074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gain on the hardest case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“which cell” to “exact (x, y)”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CNN &amp; MLP, same data, same folds — the classifier's head swapped for coordinate regression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0B5D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691640"/>
            <a:ext cx="7708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RnCmPp grid label → true (x, y) in inches (±0.375 in corner offsets, plus photo-digitized positions where the insert blocked a corner).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0B5D7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862072"/>
            <a:ext cx="7708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conv trunk → fc(2). MLP: 3-seed ensemble. Raw S-parameter input, per-session z-score, v2 preprocessing.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0B5D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4032504"/>
            <a:ext cx="7708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error in inches — never snapped to a grid point. Median error + % within the 0.5 in half-cell.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0B5D7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5202936"/>
            <a:ext cx="7708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= hold out a whole session (new scan of a known grid). LOPO = hold out a position (interpolate to an unseen spot).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scan of a known grid (LOSO)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localization error — the CNN nails it; the MLP lags and physics features break 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2143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wins everywhere — ~0.16 in on empty (a sixth of a cell), under ¼ in even on F5.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≈ physics for the CNN, so raw is the pick (simpler, faster).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3–4× worse on raw; with physics it collapses to the predict-centre baseline (1.1–1.3 in).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 classification, where physics was the MLP's best input.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 — LOSO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diamonds = CNN prediction; circles = true position; arrow = the error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709160"/>
          </a:xfrm>
          <a:prstGeom prst="roundRect">
            <a:avLst>
              <a:gd name="adj" fmla="val 1748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pic>
        <p:nvPicPr>
          <p:cNvPr id="5" name="Image 0" descr="pred_vs_actual_loso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0" cy="3776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2628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phantom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26280" y="2834640"/>
            <a:ext cx="1417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sit almost on top of the true grid — arrows are tiny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486400" cy="4709160"/>
          </a:xfrm>
          <a:prstGeom prst="roundRect">
            <a:avLst>
              <a:gd name="adj" fmla="val 1748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pic>
        <p:nvPicPr>
          <p:cNvPr id="9" name="Image 1" descr="pred_vs_actual_loso_f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3657600" cy="3776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 (large insert)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332720" y="2834640"/>
            <a:ext cx="1417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tight; the few longer arrows creep toward the centre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Interpolating to an unseen location (LOPO)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whole grid cell out of training — the model must predict a spot it has never seen a signature for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2143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is 3–4× harder than session transfer (0.45–0.75 in vs 0.16–0.22 in).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beats in-session on all three setups — for interpolation, more data &gt; removing drift.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glandular barrier surfaces: near-insert cells are now WORSE than exterior (F4 pooled 0.75 vs 0.41 in) — the reverse of LOSO.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 — LOPO (F5, unseen cells)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arrows are long, and they point inward — the model can't interpolate across the dielectric barrier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pic>
        <p:nvPicPr>
          <p:cNvPr id="5" name="Image 0" descr="pred_vs_actual_lopo_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42062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55448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picture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2240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held-out cell's prediction is dragged toward the phantom centre — the classic ill-posed-interpolation signature.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Red-ringed (near-insert) points have the longest arrows: the sharp dielectric change at the glandular boundary makes the field non-smooth, so the CNN can't bridge the gap.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physics the session-transfer test hid — every position (insert included) was in LOSO training, so the model had memorized 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teach it to interpolate?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fixes tried on the hardest case (F5 pooled/cell, baseline 0.664 in) — only one helps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F3F7FA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38100" dir="5400000">
              <a:srgbClr val="5B6B7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104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— WIN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sample pairs + their (x,y): 0.664 → 0.572, and it helps the barrier region most.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Position-disjoint validation — no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starves the ~30 scarce training positions.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output — no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readout biases predictions toward centre.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CC4A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localizes to a sixth of a cell  —  </a:t>
            </a:r>
            <a:pPr indent="0" marL="0">
              <a:buNone/>
            </a:pPr>
            <a:r>
              <a:rPr lang="en-US" sz="14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≈0.16 in cross-session on the empty phantom, &lt;¼ in with a glandular insert — regression works, and the CNN owns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15184"/>
            <a:ext cx="384048" cy="384048"/>
          </a:xfrm>
          <a:prstGeom prst="ellipse">
            <a:avLst/>
          </a:prstGeom>
          <a:solidFill>
            <a:srgbClr val="2CC4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2374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beats physics for regression  —  </a:t>
            </a:r>
            <a:pPr indent="0" marL="0">
              <a:buNone/>
            </a:pPr>
            <a:r>
              <a:rPr lang="en-US" sz="14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are redundant for the CNN and outright break the MLP — the reverse of the classification result.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84448"/>
            <a:ext cx="384048" cy="384048"/>
          </a:xfrm>
          <a:prstGeom prst="ellipse">
            <a:avLst/>
          </a:prstGeom>
          <a:solidFill>
            <a:srgbClr val="2CC4A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49300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is a different, harder problem  —  </a:t>
            </a:r>
            <a:pPr indent="0" marL="0">
              <a:buNone/>
            </a:pPr>
            <a:r>
              <a:rPr lang="en-US" sz="14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an unseen location is 3–4× harder than a new scan of a known grid; the data supports the latter far better.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553712"/>
            <a:ext cx="384048" cy="384048"/>
          </a:xfrm>
          <a:prstGeom prst="ellipse">
            <a:avLst/>
          </a:prstGeom>
          <a:solidFill>
            <a:srgbClr val="2CC4A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46227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glandular barrier is real &amp; measurable  —  </a:t>
            </a:r>
            <a:pPr indent="0" marL="0">
              <a:buNone/>
            </a:pPr>
            <a:r>
              <a:rPr lang="en-US" sz="14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LOPO error concentrates on near-insert cells (≈1.8× exterior) — the model can't interpolate across the dielectric jump.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522976"/>
            <a:ext cx="384048" cy="384048"/>
          </a:xfrm>
          <a:prstGeom prst="ellipse">
            <a:avLst/>
          </a:prstGeom>
          <a:solidFill>
            <a:srgbClr val="2CC4A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543153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is the one lever that helps  —  </a:t>
            </a:r>
            <a:pPr indent="0" marL="0">
              <a:buNone/>
            </a:pPr>
            <a:r>
              <a:rPr lang="en-US" sz="14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smooth signal→coordinate map cuts error 14% and helps the barrier most; validation-splitting and heatmap output hurt.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github.com/pmart1534/microwave-phantom-localization-cnn-mlp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Results</dc:title>
  <dc:subject>PptxGenJS Presentation</dc:subject>
  <dc:creator>Peter Martin</dc:creator>
  <cp:lastModifiedBy>Peter Martin</cp:lastModifiedBy>
  <cp:revision>1</cp:revision>
  <dcterms:created xsi:type="dcterms:W3CDTF">2026-07-10T16:26:09Z</dcterms:created>
  <dcterms:modified xsi:type="dcterms:W3CDTF">2026-07-10T16:26:09Z</dcterms:modified>
</cp:coreProperties>
</file>