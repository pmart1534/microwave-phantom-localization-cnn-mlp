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37744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847088"/>
            <a:ext cx="82296" cy="137160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84708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. SIMULATED DATA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 (x, y, z) tumor localization in HFSS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331012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dense simulated tumor sweep (91 positions x 13 depth planes) lets us resolve depth and measure how much data the CNN needs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97280" y="4526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 mm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97280" y="513892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error (8-fold)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09160" y="4526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 mm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09160" y="513892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error, not the weak axis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321040" y="4526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~450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321040" y="513892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positions needed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setup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HFSS full-wave model of Sam's Medium antennas + the A3 phantom (SamMakin tumor sweep)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024128"/>
          </a:xfrm>
          <a:prstGeom prst="roundRect">
            <a:avLst>
              <a:gd name="adj" fmla="val 803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56232"/>
            <a:ext cx="512064" cy="512064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56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746504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11880" y="1655064"/>
            <a:ext cx="7845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HFSS full-wave solve of Sam's Medium antennas (the same 4-antenna array as the bench) around the A3 phantom in oil. A metal tumor is moved through a 3D grid; a dielectric (beet) tumor is run identically for comparison.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70632"/>
            <a:ext cx="11091672" cy="1024128"/>
          </a:xfrm>
          <a:prstGeom prst="roundRect">
            <a:avLst>
              <a:gd name="adj" fmla="val 803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026664"/>
            <a:ext cx="512064" cy="512064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26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291693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11880" y="2825496"/>
            <a:ext cx="7845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10 mm (x,y) lattice, 91 positions, swept over 13 depth planes z = -15 to +45 mm (5 mm steps). 1074 tumor positions total (off-grid z = 3 mm excluded).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41064"/>
            <a:ext cx="11091672" cy="1024128"/>
          </a:xfrm>
          <a:prstGeom prst="roundRect">
            <a:avLst>
              <a:gd name="adj" fmla="val 803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197096"/>
            <a:ext cx="512064" cy="512064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970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08736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611880" y="3995928"/>
            <a:ext cx="7845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4-port S-matrix exported 2 to 8 GHz (3001 pts, resampled to 256). Input = differential dS = S(tumor) minus S(empty), using each depth's own HFSS-batch empty baseline.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111496"/>
            <a:ext cx="11091672" cy="1024128"/>
          </a:xfrm>
          <a:prstGeom prst="roundRect">
            <a:avLst>
              <a:gd name="adj" fmla="val 803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367528"/>
            <a:ext cx="512064" cy="512064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367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5257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611880" y="5166360"/>
            <a:ext cx="7845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conv trunk as the measured CNN, head to fc(3) for (x,y,z) in mm. 8-fold position cross-validation; lateral and depth error reported separately.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simulated setup, in pictures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HFSS model of the antenna array, phantom and tumor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60120" y="1645920"/>
            <a:ext cx="4937760" cy="4069080"/>
          </a:xfrm>
          <a:prstGeom prst="roundRect">
            <a:avLst>
              <a:gd name="adj" fmla="val 2022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pic>
        <p:nvPicPr>
          <p:cNvPr id="5" name="Image 0" descr="setup_photos/sim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737360"/>
            <a:ext cx="475488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53218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HFSS model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63640" y="1645920"/>
            <a:ext cx="4937760" cy="4069080"/>
          </a:xfrm>
          <a:prstGeom prst="roundRect">
            <a:avLst>
              <a:gd name="adj" fmla="val 2022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pic>
        <p:nvPicPr>
          <p:cNvPr id="8" name="Image 1" descr="setup_photos/sim_close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37360"/>
            <a:ext cx="475488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63640" y="53218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Antennas + tumor closeup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5532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placeholders in regression_deck/setup_photos/ (sim_model.*, sim_closeup.*) with real HFSS screenshots.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planes and the signal they carry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tumor heights; the perturbation peaks at the radiating patch and fades with distance</a:t>
            </a:r>
            <a:endParaRPr lang="en-US" sz="1400" dirty="0"/>
          </a:p>
        </p:txBody>
      </p:sp>
      <p:pic>
        <p:nvPicPr>
          <p:cNvPr id="4" name="Image 0" descr="sim_dS_vs_dep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83080"/>
            <a:ext cx="7315200" cy="4032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55280" y="1645920"/>
            <a:ext cx="3703320" cy="4434840"/>
          </a:xfrm>
          <a:prstGeom prst="roundRect">
            <a:avLst>
              <a:gd name="adj" fmla="val 2222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18388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physical driver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83880" y="233172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= tumor minus empty, averaged over frequency and all 16 S-parameters.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Port/feed is at z = +3 mm, but the radiating patch sits ~15 to 20 mm in (feed-line offset).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peaks right at the patch (~15 to 20 mm), where the tumor is nearest the radiator.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off both ways; far depths carry the least signal, so localization degrades there. (Measured tumor sat at z = +40 mm.)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bench sees the same depth shape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tumor perturbation across 4 heights, independent of the simulation</a:t>
            </a:r>
            <a:endParaRPr lang="en-US" sz="1400" dirty="0"/>
          </a:p>
        </p:txBody>
      </p:sp>
      <p:pic>
        <p:nvPicPr>
          <p:cNvPr id="4" name="Image 0" descr="measured_dS_vs_dep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83080"/>
            <a:ext cx="731520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55280" y="1645920"/>
            <a:ext cx="3703320" cy="4434840"/>
          </a:xfrm>
          <a:prstGeom prst="roundRect">
            <a:avLst>
              <a:gd name="adj" fmla="val 2222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18388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story on the bench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83880" y="233172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measured tumor heights (July10), a full 51-position grid at each.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|dS| peaks at +15 mm, right at the radiating patch, exactly like the sim.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off both ways; the bench and the simulation agree on where the signal lives.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Depths are port-relative; the +25 mm session was mislabeled '2.5 cm below' in the README.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3D localization network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 as the measured CNN, with one extra output for depth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024128"/>
          </a:xfrm>
          <a:prstGeom prst="roundRect">
            <a:avLst>
              <a:gd name="adj" fmla="val 803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56232"/>
            <a:ext cx="512064" cy="512064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56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746504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11880" y="1655064"/>
            <a:ext cx="7845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as a 32 x 256 image (16 S-params x [mag, phase], 256 frequencies). Per-sample z-score normalization.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70632"/>
            <a:ext cx="11091672" cy="1024128"/>
          </a:xfrm>
          <a:prstGeom prst="roundRect">
            <a:avLst>
              <a:gd name="adj" fmla="val 803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026664"/>
            <a:ext cx="512064" cy="512064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26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291693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Trunk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11880" y="2825496"/>
            <a:ext cx="7845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conv blocks (32 filters each) plus pooling and dropout, identical to the measured (x,y) CNN.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41064"/>
            <a:ext cx="11091672" cy="1024128"/>
          </a:xfrm>
          <a:prstGeom prst="roundRect">
            <a:avLst>
              <a:gd name="adj" fmla="val 803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197096"/>
            <a:ext cx="512064" cy="512064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970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08736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611880" y="3995928"/>
            <a:ext cx="7845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fc(3) plus regression to (x, y, z) in mm. Trained with an L2 coordinate loss, 60 epochs.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111496"/>
            <a:ext cx="11091672" cy="1024128"/>
          </a:xfrm>
          <a:prstGeom prst="roundRect">
            <a:avLst>
              <a:gd name="adj" fmla="val 803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367528"/>
            <a:ext cx="512064" cy="512064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367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5257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611880" y="5166360"/>
            <a:ext cx="7845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8-fold hold-out by POSITION (every position predicted once, out-of-fold). Lateral = sqrt(dx^2+dy^2); depth = |dz|, reported separately so one axis cannot hide the other.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data does the CNN need?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more depth planes (more distinct positions) and watch the error fall</a:t>
            </a:r>
            <a:endParaRPr lang="en-US" sz="1400" dirty="0"/>
          </a:p>
        </p:txBody>
      </p:sp>
      <p:pic>
        <p:nvPicPr>
          <p:cNvPr id="4" name="Image 0" descr="sim_depth_learning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7223760" cy="44988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600200"/>
            <a:ext cx="3794760" cy="4498848"/>
          </a:xfrm>
          <a:prstGeom prst="roundRect">
            <a:avLst>
              <a:gd name="adj" fmla="val 2169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9244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threshold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92440" y="2286000"/>
            <a:ext cx="3383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depth plane (82 positions): 33 mm, about chance. The conv net cannot train.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planes (245): 11 mm. 5 planes (410): 4.8 mm.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~3.8 mm from 7 planes (about 570) on.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needs ~400 to 500 DISTINCT positions to localize; below ~250 it is poor.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positions matter, not raw sample count (see Part 3).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 localization result (8-fold)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position predicted from a model that never saw it, lateral and depth separately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0195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 mm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(xy) median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36.5 mm chance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90195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5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 mm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29000" y="2606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(z) median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16.3 mm chance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73736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90195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E10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93 %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6480" y="2606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positions within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mm laterally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732520" y="173736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32520" y="190195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89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 / 2.1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823960" y="2606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beet (dielectric)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 / z, same as metal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10607040" cy="2697480"/>
          </a:xfrm>
          <a:prstGeom prst="roundRect">
            <a:avLst>
              <a:gd name="adj" fmla="val 3051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611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establishes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" y="4114800"/>
            <a:ext cx="10332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is NOT the weak axis. With fine depth sampling and full-band frequency, z resolves to ~2 mm, better than the lateral k-NN floor.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dielectric (beet) tumor localizes identically to metal (3.6 / 2.1 mm). In the noiseless sim the ~19 percent weaker contrast costs nothing.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is 36 mm laterally / 16 mm in depth, so the model is about 10x better than guessing the centre on both axes.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an unseen depth plane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one whole depth out; interior depths interpolate, only the outer edge depths fail</a:t>
            </a:r>
            <a:endParaRPr lang="en-US" sz="1400" dirty="0"/>
          </a:p>
        </p:txBody>
      </p:sp>
      <p:pic>
        <p:nvPicPr>
          <p:cNvPr id="4" name="Image 0" descr="sim_depth_lo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00200"/>
            <a:ext cx="859536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098280" y="1600200"/>
            <a:ext cx="2651760" cy="3566160"/>
          </a:xfrm>
          <a:prstGeom prst="roundRect">
            <a:avLst>
              <a:gd name="adj" fmla="val 3103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281160" y="1737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Range-bound, not model-bound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281160" y="237744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unseen depths: ~1 to 3 mm, a continuous learned depth map.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two outer edge depths (-15 / +45) blow up, pure extrapolation.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the sweep turned the OLD outer edges into good interior points.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6172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depth is bounded by the sampling range, not the model. Sample wider and the good region grows.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Predicted vs. actual, by depth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 = lateral error, marker color = depth error, red ring = grid-edge position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10896" y="1581912"/>
            <a:ext cx="3794760" cy="3977640"/>
          </a:xfrm>
          <a:prstGeom prst="roundRect">
            <a:avLst>
              <a:gd name="adj" fmla="val 2169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pic>
        <p:nvPicPr>
          <p:cNvPr id="5" name="Image 0" descr="sim_depth_examples/sim_depthplot_zp15_n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691640"/>
            <a:ext cx="3611880" cy="342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0896" y="512064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+15 mm  (peak signal)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97096" y="1581912"/>
            <a:ext cx="3794760" cy="3977640"/>
          </a:xfrm>
          <a:prstGeom prst="roundRect">
            <a:avLst>
              <a:gd name="adj" fmla="val 2169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pic>
        <p:nvPicPr>
          <p:cNvPr id="8" name="Image 1" descr="sim_depth_examples/sim_depthplot_zp30_n2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1691640"/>
            <a:ext cx="3611880" cy="3429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97096" y="512064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+30 mm  (interior)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083296" y="1581912"/>
            <a:ext cx="3794760" cy="3977640"/>
          </a:xfrm>
          <a:prstGeom prst="roundRect">
            <a:avLst>
              <a:gd name="adj" fmla="val 2169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pic>
        <p:nvPicPr>
          <p:cNvPr id="11" name="Image 2" descr="sim_depth_examples/sim_depthplot_zp45_n2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1691640"/>
            <a:ext cx="3611880" cy="3429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83296" y="512064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+45 mm  (outer edge)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48640" y="61264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depths (z=+15/+30) predict tightly; the +45 mm outer edge shows the extrapolation blow-up in both lateral arrows and depth color.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37744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2, bottom 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384048" cy="384048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50876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3D localization works in sim:  </a:t>
            </a:r>
            <a:pPr indent="0" marL="0">
              <a:buNone/>
            </a:pPr>
            <a:r>
              <a:rPr lang="en-US" sz="140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 mm lateral, 2.1 mm depth. The CNN resolves all three coordinates well below a grid step.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569464"/>
            <a:ext cx="384048" cy="384048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478024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is a strong axis, not a weak one:  </a:t>
            </a:r>
            <a:pPr indent="0" marL="0">
              <a:buNone/>
            </a:pPr>
            <a:r>
              <a:rPr lang="en-US" sz="140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depth sampling and full-band frequency make z (~2 mm) actually beat the lateral floor.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538728"/>
            <a:ext cx="384048" cy="384048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3447288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CNN needs ~400 to 500 distinct positions:  </a:t>
            </a:r>
            <a:pPr indent="0" marL="0">
              <a:buNone/>
            </a:pPr>
            <a:r>
              <a:rPr lang="en-US" sz="140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that it degrades fast; at one depth plane (82) it collapses to chance. A concrete data target.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507992"/>
            <a:ext cx="384048" cy="384048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441655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generalizes across the sampled range:  </a:t>
            </a:r>
            <a:pPr indent="0" marL="0">
              <a:buNone/>
            </a:pPr>
            <a:r>
              <a:rPr lang="en-US" sz="140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interior depths interpolate to ~1 to 3 mm; only the outer edge depths extrapolate and fail.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5477256"/>
            <a:ext cx="384048" cy="384048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477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385816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is about equal to dielectric in the noiseless sim:  </a:t>
            </a:r>
            <a:pPr indent="0" marL="0">
              <a:buNone/>
            </a:pPr>
            <a:r>
              <a:rPr lang="en-US" sz="140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beet tumor localizes as well as metal, so realistic contrast is not the bottleneck here.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github.com/pmart1534/microwave-phantom-localization-cnn-mlp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Simulated Regression</dc:title>
  <dc:subject>PptxGenJS Presentation</dc:subject>
  <dc:creator>Peter Martin</dc:creator>
  <cp:lastModifiedBy>Peter Martin</cp:lastModifiedBy>
  <cp:revision>1</cp:revision>
  <dcterms:created xsi:type="dcterms:W3CDTF">2026-07-21T15:57:27Z</dcterms:created>
  <dcterms:modified xsi:type="dcterms:W3CDTF">2026-07-21T15:57:27Z</dcterms:modified>
</cp:coreProperties>
</file>