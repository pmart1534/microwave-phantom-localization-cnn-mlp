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(raw)</c:v>
                </c:pt>
              </c:strCache>
            </c:strRef>
          </c:tx>
          <c:spPr>
            <a:solidFill>
              <a:srgbClr val="BE00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0.154</c:v>
                </c:pt>
                <c:pt idx="1">
                  <c:v>0.164</c:v>
                </c:pt>
                <c:pt idx="2">
                  <c:v>0.223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MLP (raw)</c:v>
                </c:pt>
              </c:strCache>
            </c:strRef>
          </c:tx>
          <c:spPr>
            <a:solidFill>
              <a:srgbClr val="C889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0.481</c:v>
                </c:pt>
                <c:pt idx="1">
                  <c:v>0.695</c:v>
                </c:pt>
                <c:pt idx="2">
                  <c:v>0.759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predict-centre (chance)</c:v>
                </c:pt>
              </c:strCache>
            </c:strRef>
          </c:tx>
          <c:spPr>
            <a:solidFill>
              <a:srgbClr val="C9B3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1.34</c:v>
                </c:pt>
                <c:pt idx="1">
                  <c:v>1.73</c:v>
                </c:pt>
                <c:pt idx="2">
                  <c:v>1.3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1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F0E4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36A6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36A68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6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16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pooled (train on all other sessions + positions)</c:v>
                </c:pt>
              </c:strCache>
            </c:strRef>
          </c:tx>
          <c:spPr>
            <a:solidFill>
              <a:srgbClr val="BE00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0.473</c:v>
                </c:pt>
                <c:pt idx="1">
                  <c:v>0.487</c:v>
                </c:pt>
                <c:pt idx="2">
                  <c:v>0.667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in-session (train + test within one session)</c:v>
                </c:pt>
              </c:strCache>
            </c:strRef>
          </c:tx>
          <c:spPr>
            <a:solidFill>
              <a:srgbClr val="E0A99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0.661</c:v>
                </c:pt>
                <c:pt idx="1">
                  <c:v>0.609</c:v>
                </c:pt>
                <c:pt idx="2">
                  <c:v>0.753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A1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F0E4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36A6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36A68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6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16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single-position median error</c:v>
                </c:pt>
              </c:strCache>
            </c:strRef>
          </c:tx>
          <c:spPr>
            <a:solidFill>
              <a:srgbClr val="BE000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 insert</c:v>
                  </c:pt>
                  <c:pt idx="2">
                    <c:v>F5 insert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0.392</c:v>
                </c:pt>
                <c:pt idx="1">
                  <c:v/>
                </c:pt>
                <c:pt idx="2">
                  <c:v>0.546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A1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F0E4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36A6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36A68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6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LOSO (new session)</c:v>
                </c:pt>
              </c:strCache>
            </c:strRef>
          </c:tx>
          <c:spPr>
            <a:solidFill>
              <a:srgbClr val="C889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</c:v>
                  </c:pt>
                  <c:pt idx="2">
                    <c:v>F5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0.154</c:v>
                </c:pt>
                <c:pt idx="1">
                  <c:v>0.164</c:v>
                </c:pt>
                <c:pt idx="2">
                  <c:v>0.223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single-position (1 point)</c:v>
                </c:pt>
              </c:strCache>
            </c:strRef>
          </c:tx>
          <c:spPr>
            <a:solidFill>
              <a:srgbClr val="C056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</c:v>
                  </c:pt>
                  <c:pt idx="2">
                    <c:v>F5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0.392</c:v>
                </c:pt>
                <c:pt idx="1">
                  <c:v/>
                </c:pt>
                <c:pt idx="2">
                  <c:v>0.546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LOPO-cell (whole cell)</c:v>
                </c:pt>
              </c:strCache>
            </c:strRef>
          </c:tx>
          <c:spPr>
            <a:solidFill>
              <a:srgbClr val="8E101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Empty</c:v>
                  </c:pt>
                  <c:pt idx="1">
                    <c:v>F4</c:v>
                  </c:pt>
                  <c:pt idx="2">
                    <c:v>F5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0.473</c:v>
                </c:pt>
                <c:pt idx="1">
                  <c:v>0.487</c:v>
                </c:pt>
                <c:pt idx="2">
                  <c:v>0.667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1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F0E4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36A6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36A68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6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2A16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error</c:v>
                </c:pt>
              </c:strCache>
            </c:strRef>
          </c:tx>
          <c:spPr>
            <a:solidFill>
              <a:srgbClr val="C9B3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6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B3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E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B3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B3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B3A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B3A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+mixup</c:v>
                  </c:pt>
                  <c:pt idx="2">
                    <c:v>+posval</c:v>
                  </c:pt>
                  <c:pt idx="3">
                    <c:v>+mix&amp;pos</c:v>
                  </c:pt>
                  <c:pt idx="4">
                    <c:v>+heatmap</c:v>
                  </c:pt>
                  <c:pt idx="5">
                    <c:v>+heat&amp;mix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0.664</c:v>
                </c:pt>
                <c:pt idx="1">
                  <c:v>0.572</c:v>
                </c:pt>
                <c:pt idx="2">
                  <c:v>0.927</c:v>
                </c:pt>
                <c:pt idx="3">
                  <c:v>0.722</c:v>
                </c:pt>
                <c:pt idx="4">
                  <c:v>0.895</c:v>
                </c:pt>
                <c:pt idx="5">
                  <c:v>0.865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A16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16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F0E4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36A68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36A68"/>
                    </a:solidFill>
                    <a:latin typeface="Arial"/>
                  </a:rPr>
                  <a:t>median error (inches)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36A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47088"/>
            <a:ext cx="82296" cy="137160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8470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. PHYSICAL MEASUREMENTS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y) tumor localization on the A3 phantom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310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VNA S-parameters to continuous coordinate regression: CNN vs MLP, under LOSO, LOPO-cell and single-position hold-out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 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cross-session error (empty)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0916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mm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0916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sixth of a grid cell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3210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phantoms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321040" y="51389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empty, F4, F5 inserts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setup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 VNA, A3 breast phantom in canola oil, Sam Medium antennas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Phantom &amp; medium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86200" y="1655064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breast phantom submerged in canola oil (breast-tissue-like permittivity). A metal fishing-weight tumor is moved to each grid position.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acquisition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2825496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antennas into a 4-port VNA. Full 4x4 S-matrix (16 S-parameters), magnitude and phase, swept 0.1 to 8 GHz (791 points).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grid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86200" y="3995928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6x6 array of cells, pitch about 25.4 x 23.85 mm. Each cell has 4 sub-positions at its corners (about 9.5 mm in). Roughly 51 sub-positions on the empty phantom.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Repeats &amp; sessions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86200" y="516636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takes per position; 3 to 4 sessions per phantom (re-set between sessions, so real drift). Three variants: empty, F4 (small insert), F5 (large insert).</a:t>
            </a:r>
            <a:endParaRPr lang="en-US" sz="12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measurement setup, in pictures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 VNA, the 4-antenna array, and the A3 phantom on the grid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4937760" cy="4069080"/>
          </a:xfrm>
          <a:prstGeom prst="roundRect">
            <a:avLst>
              <a:gd name="adj" fmla="val 20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setup_photos/measured_be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47548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VNA + antenna array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1645920"/>
            <a:ext cx="4937760" cy="4069080"/>
          </a:xfrm>
          <a:prstGeom prst="roundRect">
            <a:avLst>
              <a:gd name="adj" fmla="val 2022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setup_photos/measured_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475488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5321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in oil on the grid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5532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placeholders in regression_deck/setup_photos/ (measured_bench.*, measured_grid.*) with real photos.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“which cell” to “exact (x, y)”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CNN and MLP as the classifier, with the head swapped for coordinate regression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56232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86200" y="1655064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label RnCmPp to a true (x,y) in inches (corner offsets of 0.375 in; photo-digitized where an insert blocked a corner). Never snapped to a grid point.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026664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91693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86200" y="2825496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conv trunk (32 to 32) then fc(2) + regression. MLP: 3-seed ensemble. Input = raw 16 S-params as a 32 x freq image; per-session z-score; v2 preprocessing.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97096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97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86200" y="3995928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error in inches (x25.4 = mm). Median error plus percent within the 0.5 in half-cell.</a:t>
            </a:r>
            <a:endParaRPr lang="en-US" sz="127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91672" cy="1024128"/>
          </a:xfrm>
          <a:prstGeom prst="roundRect">
            <a:avLst>
              <a:gd name="adj" fmla="val 803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67528"/>
            <a:ext cx="512064" cy="512064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675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2578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886200" y="5166360"/>
            <a:ext cx="7571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holds out a whole session. LOPO-cell holds out a whole 1 in cell. LOPO single-position holds out one sub-position (its cell-mates stay in training).</a:t>
            </a: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test the model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hold-out asks a harder question about generalization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246120" cy="4526280"/>
          </a:xfrm>
          <a:prstGeom prst="roundRect">
            <a:avLst>
              <a:gd name="adj" fmla="val 253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session 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143000" y="2651760"/>
            <a:ext cx="2240280" cy="3657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train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3108960"/>
            <a:ext cx="2240280" cy="365760"/>
          </a:xfrm>
          <a:prstGeom prst="roundRect">
            <a:avLst>
              <a:gd name="adj" fmla="val 10000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train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3566160"/>
            <a:ext cx="2240280" cy="365760"/>
          </a:xfrm>
          <a:prstGeom prst="roundRect">
            <a:avLst>
              <a:gd name="adj" fmla="val 10000"/>
            </a:avLst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3566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test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recording session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read a NEW scan of positions it already knows?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669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889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669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600200"/>
            <a:ext cx="3246120" cy="4526280"/>
          </a:xfrm>
          <a:prstGeom prst="roundRect">
            <a:avLst>
              <a:gd name="adj" fmla="val 253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LOPO single-position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800600" y="22585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sub-position out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6732" y="2916936"/>
            <a:ext cx="201168" cy="201168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3660" y="2916936"/>
            <a:ext cx="201168" cy="201168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6732" y="3483864"/>
            <a:ext cx="201168" cy="201168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3660" y="3483864"/>
            <a:ext cx="201168" cy="201168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1056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held out,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cell-mates stay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(its 3 cell-mates ~0.75 in away stay in)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00600" y="5029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reach an unseen point that has close neighbors?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5669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56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5669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1600200"/>
            <a:ext cx="3246120" cy="4526280"/>
          </a:xfrm>
          <a:prstGeom prst="roundRect">
            <a:avLst>
              <a:gd name="adj" fmla="val 253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78240" y="1801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LOPO-cell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778240" y="22585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one whole cell out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573768" y="2766060"/>
            <a:ext cx="137160" cy="137160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57816" y="2766060"/>
            <a:ext cx="137160" cy="137160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41864" y="2766060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25912" y="2766060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73768" y="3150108"/>
            <a:ext cx="137160" cy="137160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57816" y="3150108"/>
            <a:ext cx="137160" cy="137160"/>
          </a:xfrm>
          <a:prstGeom prst="ellipse">
            <a:avLst/>
          </a:prstGeom>
          <a:solidFill>
            <a:srgbClr val="BE0000"/>
          </a:solidFill>
          <a:ln w="12700">
            <a:solidFill>
              <a:srgbClr val="BE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341864" y="3150108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25912" y="3150108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73768" y="3534156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57816" y="3534156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341864" y="3534156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25912" y="3534156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73768" y="3918204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57816" y="3918204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41864" y="3918204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725912" y="3918204"/>
            <a:ext cx="137160" cy="137160"/>
          </a:xfrm>
          <a:prstGeom prst="ellipse">
            <a:avLst/>
          </a:prstGeom>
          <a:solidFill>
            <a:srgbClr val="FBF4F2"/>
          </a:solidFill>
          <a:ln w="12700">
            <a:solidFill>
              <a:srgbClr val="836A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4233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cell held out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77824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points of a 1 in cell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778240" y="50292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15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bridge a full inch to a spot with NO nearby signature?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778240" y="56692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E1010"/>
          </a:solidFill>
          <a:ln/>
        </p:spPr>
      </p:sp>
      <p:sp>
        <p:nvSpPr>
          <p:cNvPr id="52" name="Text 50"/>
          <p:cNvSpPr/>
          <p:nvPr/>
        </p:nvSpPr>
        <p:spPr>
          <a:xfrm>
            <a:off x="8778240" y="56692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scan of a known grid (LOSO)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localization error: the CNN nails it; the MLP lags and physics features break it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2143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wins everywhere: 0.15 in (3.9 mm) on empty, under a quarter inch even on F5.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is as good as physics for the CNN, so raw is the pick (simpler, faster).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3 to 4x worse; with physics it collapses to the predict-centre baseline.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90 percent of positions land within the half-cell on all three phantoms.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actual, LOSO (CNN)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Crimson diamonds = prediction, open circles = true position, arrow = the error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410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pred_vs_actual_loso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55648"/>
            <a:ext cx="320040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10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454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pred_vs_actual_loso_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755648"/>
            <a:ext cx="3200400" cy="33101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454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 in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0498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11" name="Image 2" descr="pred_vs_actual_loso_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1755648"/>
            <a:ext cx="3200400" cy="33101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498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 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empty, small (F4) and large (F5) inserts the CNN lands within a fifth of a cell. A new measurement session is not a problem.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Interpolating to an unseen cell (LOPO-cell, CNN)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whole 1 in cell out of training, then predict a spot with no signature nearby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8580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2143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findings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219456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CNN (raw, all 4 antennas), same as LOSO.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= the held-out cell is removed from EVERY session, train on all the rest. In-session = train and test inside one session (drift removed).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is 3 to 4x harder than a new session (0.47 to 0.67 vs 0.15 to 0.22 in).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beats in-session on all three: for interpolation, more data beats removing drift.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actual, LOPO-cell (CNN, pooled)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locations never sampled; the dashed outline is the glandular insert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410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pred_vs_actual_lopo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55648"/>
            <a:ext cx="320040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10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 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454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pred_vs_actual_lopo_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755648"/>
            <a:ext cx="3200400" cy="33101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454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 in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0498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11" name="Image 2" descr="pred_vs_actual_lopo_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1755648"/>
            <a:ext cx="3200400" cy="33101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498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 error climbs with insert size (0.47, 0.49, 0.67 in) and predictions pull inward, concentrating over the glandular insert the CNN never sampled.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vs. actual, single-position (CNN, pooled)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one sub-position; its 3 cell-mates stay in training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410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5" name="Image 0" descr="pred_vs_actual_subpos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755648"/>
            <a:ext cx="320040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410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 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8454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8" name="Image 1" descr="pred_vs_actual_subpos_f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6" y="1755648"/>
            <a:ext cx="3200400" cy="33101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454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904988" y="1627632"/>
            <a:ext cx="3419856" cy="3950208"/>
          </a:xfrm>
          <a:prstGeom prst="roundRect">
            <a:avLst>
              <a:gd name="adj" fmla="val 2406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pic>
        <p:nvPicPr>
          <p:cNvPr id="11" name="Image 2" descr="pred_vs_actual_subpos_f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1755648"/>
            <a:ext cx="3200400" cy="33101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04988" y="5084064"/>
            <a:ext cx="3419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insert   </a:t>
            </a:r>
            <a:pPr algn="ctr"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in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close cell-mates left in training, single-position error is lower than the whole-cell hold-out (empty 0.39 vs 0.47 in, F5 0.55 vs 0.67 in).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Single-position accuracy (CNN, pooled)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cell-mates in training makes this the middle rung of difficulty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663440"/>
          </a:xfrm>
          <a:prstGeom prst="roundRect">
            <a:avLst>
              <a:gd name="adj" fmla="val 219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0.39 in (9.9 mm), F5 0.55 in (13.9 mm).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is running and will drop in here.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below the matching whole-cell numbers, since the 3 cell-mates give close anchors.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above the roughly 6 mm signal floor, so the CNN is data-limited on about 50 positions.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protocols side by side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is each generalization task? (raw CNN median error, inches)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749040" cy="4663440"/>
          </a:xfrm>
          <a:prstGeom prst="roundRect">
            <a:avLst>
              <a:gd name="adj" fmla="val 2195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9244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 of difficulty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(0.15 to 0.22 in): a new scan of KNOWN positions. Easiest.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Single-position (0.39 to 0.55): unseen point, close anchors. Medium.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LOPO-cell (0.47 to 0.67): unseen 1 in cell, no anchor. Hardest.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size raises every bar; the gap widens as the task gets harder.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teach it to interpolate better?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3327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tricks tried on the HARDEST case (F5 LOPO-cell, baseline 0.664 in); only one helps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00200"/>
            <a:ext cx="3520440" cy="4572000"/>
          </a:xfrm>
          <a:prstGeom prst="roundRect">
            <a:avLst>
              <a:gd name="adj" fmla="val 2338"/>
            </a:avLst>
          </a:prstGeom>
          <a:solidFill>
            <a:srgbClr val="FBF4F2"/>
          </a:solidFill>
          <a:ln w="12700">
            <a:solidFill>
              <a:srgbClr val="E7D6D1"/>
            </a:solidFill>
            <a:prstDash val="solid"/>
          </a:ln>
          <a:effectLst>
            <a:outerShdw sx="100000" sy="100000" kx="0" ky="0" algn="bl" rotWithShape="0" blurRad="88900" dist="38100" dir="5400000">
              <a:srgbClr val="7A5C5E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1040" y="2240280"/>
            <a:ext cx="3108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better. Grey bars made it worse than the baseline; the crimson bar is the only improvement.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Mixup, WIN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sample pairs and their (x,y): 0.664 to 0.572, and it helps the insert region most.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Position-split validation and heatmap output, NO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starves the ~30 scarce training positions; the other biases predictions toward centre.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37744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E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1, bottom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localizes to a sixth of a cell: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0.15 in (3.9 mm) cross-session on empty, under a quarter inch with a glandular insert. Regression works, and the CNN owns 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569464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478024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beats physics for regression: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are redundant for the CNN and break the MLP, the reverse of the classification result.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38728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44728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ladder: LOSO &lt; single-position &lt; cell: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scan of known spots is easy; an unseen single point is medium; an unseen whole cell is 3 to 4x harder than LOSO.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41655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glandular insert is visible in the errors: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LOPO predictions pull inward and concentrate over the traced insert, which the CNN never sampled.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477256"/>
            <a:ext cx="384048" cy="384048"/>
          </a:xfrm>
          <a:prstGeom prst="ellipse">
            <a:avLst/>
          </a:prstGeom>
          <a:solidFill>
            <a:srgbClr val="BE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77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385816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6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Mixup is the one lever that helps:  </a:t>
            </a:r>
            <a:pPr indent="0" marL="0">
              <a:buNone/>
            </a:pPr>
            <a:r>
              <a:rPr lang="en-US" sz="14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smooth signal-to-coordinate map cuts error 14 percent; validation-splitting and heatmap output hurt on this small set.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github.com/pmart1534/microwave-phantom-localization-cnn-mlp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Measured Regression</dc:title>
  <dc:subject>PptxGenJS Presentation</dc:subject>
  <dc:creator>Peter Martin</dc:creator>
  <cp:lastModifiedBy>Peter Martin</cp:lastModifiedBy>
  <cp:revision>1</cp:revision>
  <dcterms:created xsi:type="dcterms:W3CDTF">2026-07-21T15:49:17Z</dcterms:created>
  <dcterms:modified xsi:type="dcterms:W3CDTF">2026-07-21T15:49:17Z</dcterms:modified>
</cp:coreProperties>
</file>