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1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2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4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CNN (raw)</c:v>
                </c:pt>
              </c:strCache>
            </c:strRef>
          </c:tx>
          <c:spPr>
            <a:solidFill>
              <a:srgbClr val="0B5D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0.154</c:v>
                </c:pt>
                <c:pt idx="1">
                  <c:v>0.164</c:v>
                </c:pt>
                <c:pt idx="2">
                  <c:v>0.223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MLP (raw)</c:v>
                </c:pt>
              </c:strCache>
            </c:strRef>
          </c:tx>
          <c:spPr>
            <a:solidFill>
              <a:srgbClr val="E0A100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0.481</c:v>
                </c:pt>
                <c:pt idx="1">
                  <c:v>0.695</c:v>
                </c:pt>
                <c:pt idx="2">
                  <c:v>0.759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predict-centre (chance)</c:v>
                </c:pt>
              </c:strCache>
            </c:strRef>
          </c:tx>
          <c:spPr>
            <a:solidFill>
              <a:srgbClr val="C3CED6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1.34</c:v>
                </c:pt>
                <c:pt idx="1">
                  <c:v>1.73</c:v>
                </c:pt>
                <c:pt idx="2">
                  <c:v>1.3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pooled (all sessions)</c:v>
                </c:pt>
              </c:strCache>
            </c:strRef>
          </c:tx>
          <c:spPr>
            <a:solidFill>
              <a:srgbClr val="1C9A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0.473</c:v>
                </c:pt>
                <c:pt idx="1">
                  <c:v>0.487</c:v>
                </c:pt>
                <c:pt idx="2">
                  <c:v>0.667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in-session (drift removed)</c:v>
                </c:pt>
              </c:strCache>
            </c:strRef>
          </c:tx>
          <c:spPr>
            <a:solidFill>
              <a:srgbClr val="9AC7CE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 insert</c:v>
                  </c:pt>
                  <c:pt idx="2">
                    <c:v>F5 insert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0.661</c:v>
                </c:pt>
                <c:pt idx="1">
                  <c:v>0.609</c:v>
                </c:pt>
                <c:pt idx="2">
                  <c:v>0.753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LOSO (new session)</c:v>
                </c:pt>
              </c:strCache>
            </c:strRef>
          </c:tx>
          <c:spPr>
            <a:solidFill>
              <a:srgbClr val="0B5D7A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0.154</c:v>
                </c:pt>
                <c:pt idx="1">
                  <c:v>0.164</c:v>
                </c:pt>
                <c:pt idx="2">
                  <c:v>0.223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LOPO-subpos (1 point)</c:v>
                </c:pt>
              </c:strCache>
            </c:strRef>
          </c:tx>
          <c:spPr>
            <a:solidFill>
              <a:srgbClr val="2CC4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0.392</c:v>
                </c:pt>
                <c:pt idx="1">
                  <c:v/>
                </c:pt>
                <c:pt idx="2">
                  <c:v>0.546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LOPO-cell (whole cell)</c:v>
                </c:pt>
              </c:strCache>
            </c:strRef>
          </c:tx>
          <c:spPr>
            <a:solidFill>
              <a:srgbClr val="1C9AA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Empty</c:v>
                  </c:pt>
                  <c:pt idx="1">
                    <c:v>F4</c:v>
                  </c:pt>
                  <c:pt idx="2">
                    <c:v>F5</c:v>
                  </c:pt>
                </c:lvl>
              </c:multiLvlStrCache>
            </c:multiLvlStrRef>
          </c:cat>
          <c:val>
            <c:numRef>
              <c:f>Sheet1!$D$2:$D$4</c:f>
              <c:numCache>
                <c:formatCode>General</c:formatCode>
                <c:ptCount val="3"/>
                <c:pt idx="0">
                  <c:v>0.473</c:v>
                </c:pt>
                <c:pt idx="1">
                  <c:v>0.487</c:v>
                </c:pt>
                <c:pt idx="2">
                  <c:v>0.667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0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8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t"/>
      <c:overlay val="0"/>
      <c:txPr>
        <a:bodyPr/>
        <a:lstStyle/>
        <a:p>
          <a:pPr>
            <a:defRPr sz="1100">
              <a:solidFill>
                <a:srgbClr val="1E293B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median error</c:v>
                </c:pt>
              </c:strCache>
            </c:strRef>
          </c:tx>
          <c:spPr>
            <a:solidFill>
              <a:srgbClr val="2CC4A3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E293B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CC4A3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2CC4A3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D64545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baseline</c:v>
                  </c:pt>
                  <c:pt idx="1">
                    <c:v>+mixup</c:v>
                  </c:pt>
                  <c:pt idx="2">
                    <c:v>+posval</c:v>
                  </c:pt>
                  <c:pt idx="3">
                    <c:v>+mix&amp;pos</c:v>
                  </c:pt>
                  <c:pt idx="4">
                    <c:v>+heatmap</c:v>
                  </c:pt>
                  <c:pt idx="5">
                    <c:v>+heat&amp;mix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0.664</c:v>
                </c:pt>
                <c:pt idx="1">
                  <c:v>0.572</c:v>
                </c:pt>
                <c:pt idx="2">
                  <c:v>0.927</c:v>
                </c:pt>
                <c:pt idx="3">
                  <c:v>0.722</c:v>
                </c:pt>
                <c:pt idx="4">
                  <c:v>0.895</c:v>
                </c:pt>
                <c:pt idx="5">
                  <c:v>0.865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0" i="0" strike="noStrike" sz="1100" u="none">
                  <a:solidFill>
                    <a:srgbClr val="1E293B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E293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l"/>
        <c:majorGridlines>
          <c:spPr>
            <a:ln w="6350" cap="flat">
              <a:solidFill>
                <a:srgbClr val="EAF0F4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200" b="0" i="0" u="none" strike="noStrike">
                    <a:solidFill>
                      <a:srgbClr val="5B6B7B"/>
                    </a:solidFill>
                    <a:latin typeface="Arial"/>
                  </a:defRPr>
                </a:pPr>
                <a:r>
                  <a:rPr sz="1200" b="0" i="0" u="none" strike="noStrike">
                    <a:solidFill>
                      <a:srgbClr val="5B6B7B"/>
                    </a:solidFill>
                    <a:latin typeface="Arial"/>
                  </a:rPr>
                  <a:t>median error (inches)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8745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300" kern="0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1 · PHYSICAL MEASUREMENTS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822960" y="237744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(x, y) tumor localization on the A3 phantom</a:t>
            </a:r>
            <a:endParaRPr lang="en-US" sz="3800" dirty="0"/>
          </a:p>
        </p:txBody>
      </p:sp>
      <p:sp>
        <p:nvSpPr>
          <p:cNvPr id="4" name="Text 2"/>
          <p:cNvSpPr/>
          <p:nvPr/>
        </p:nvSpPr>
        <p:spPr>
          <a:xfrm>
            <a:off x="822960" y="3474720"/>
            <a:ext cx="104241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Bench VNA S-parameters → continuous coordinate regression — CNN vs MLP, under LOSO, LOPO-cell and single-position hold-out</a:t>
            </a:r>
            <a:endParaRPr lang="en-US" sz="1550" dirty="0"/>
          </a:p>
        </p:txBody>
      </p:sp>
      <p:sp>
        <p:nvSpPr>
          <p:cNvPr id="5" name="Text 3"/>
          <p:cNvSpPr/>
          <p:nvPr/>
        </p:nvSpPr>
        <p:spPr>
          <a:xfrm>
            <a:off x="82296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0.15 in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82296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cross-session error (empty)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443484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3.9 mm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443484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= a sixth of a grid cell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046720" y="4526280"/>
            <a:ext cx="3383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phantoms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8046720" y="5138928"/>
            <a:ext cx="3383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· F4 · F5 inserts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Measurement setup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4-port VNA · A3 breast phantom in canola oil · Sam Medium antennas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Phantom &amp; medium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886200" y="1673352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A3 breast phantom submerged in canola oil (breast-tissue-like permittivity). A metal 'fishing-weight' tumor is moved to each grid position.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RF acquisition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886200" y="2843784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antennas → 4-port VNA. Full 4×4 S-matrix (16 S-parameters), magnitude+phase, swept 0.1–8 GHz (791 points).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Sampling grid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86200" y="4014216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6×6 array of cells, pitch ≈25.4×23.85 mm. Each cell has 4 sub-positions at its corners (±9.5 mm). ~51 sub-positions measured on the empty phantom.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0B5D7A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286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Repeats &amp; sessions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886200" y="5184648"/>
            <a:ext cx="7571232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takes per position; 3 sessions per phantom (re-set between sessions → real drift). Three phantom variants: empty, F4 (small glandular insert), F5 (large insert).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“which cell” to “exact (x, y)”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CNN &amp; MLP as the classifier — the head swapped for coordinate regression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48640" y="1600200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1856232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856232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508760" y="1746504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Targets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749040" y="1655064"/>
            <a:ext cx="7708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Grid label RnCmPp → true (x,y) in inches (±0.375 in corner offsets; photo-digitized where an insert blocked a corner). Never snapped to a grid point.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548640" y="2770632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777240" y="3026664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30266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508760" y="2916936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Models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749040" y="2825496"/>
            <a:ext cx="7708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CNN: conv trunk (32→32) → fc(2) + regression. MLP: 3-seed ensemble. Input = raw 16 S-params as a 32×freq image; per-session z-score; v2 preprocessing (no session-mean).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548640" y="3941064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777240" y="4197096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16" name="Text 14"/>
          <p:cNvSpPr/>
          <p:nvPr/>
        </p:nvSpPr>
        <p:spPr>
          <a:xfrm>
            <a:off x="777240" y="4197096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508760" y="4087368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Metric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749040" y="3995928"/>
            <a:ext cx="7708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Euclidean error in inches (×25.4 = mm). Median error + % within the 0.5-in half-cell; near-insert vs exterior reported separately.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548640" y="5111496"/>
            <a:ext cx="11091672" cy="1024128"/>
          </a:xfrm>
          <a:prstGeom prst="roundRect">
            <a:avLst>
              <a:gd name="adj" fmla="val 803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77240" y="5367528"/>
            <a:ext cx="512064" cy="512064"/>
          </a:xfrm>
          <a:prstGeom prst="ellipse">
            <a:avLst/>
          </a:prstGeom>
          <a:solidFill>
            <a:srgbClr val="1C9AA8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3675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1508760" y="525780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Protocols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3749040" y="5166360"/>
            <a:ext cx="7708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= hold out a whole session. LOPO-cell = hold out a whole 1-in cell. LOPO-subpos = hold out a single sub-position (its cell-mates stay in training).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New scan of a known grid (LOSO)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 localization error — the CNN nails it; the MLP lags and physics features break it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it says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CNN wins everywhere — 0.15 in (3.9 mm) on empty, under ¼ in even on F5.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≈ physics for the CNN, so raw is the pick (simpler, faster).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MLP is 3–4× worse; with physics it collapses to the predict-centre baseline.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≥90 % of positions land within the half-cell on all three phantoms.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 — LOSO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Diamonds = CNN prediction · circles = true position · arrow = the error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pred_vs_actual_los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0.15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pred_vs_actual_los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0.16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pred_vs_actual_los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0.22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empty, small (F4) and large (F5) inserts the CNN lands within a fifth of a cell — a new measurement session is not a problem.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Interpolating to an unseen cell (LOPO-cell)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Hold a whole 1-in cell out of training — predict a spot with no signature nearby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685800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772400" y="1554480"/>
            <a:ext cx="3840480" cy="4663440"/>
          </a:xfrm>
          <a:prstGeom prst="roundRect">
            <a:avLst>
              <a:gd name="adj" fmla="val 2143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01000" y="173736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C9A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findings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001000" y="2194560"/>
            <a:ext cx="338328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is 3–4× harder than session transfer (0.47–0.67 vs 0.15–0.22 in).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Pooled beats in-session on all three — for interpolation, more data &gt; removing drift.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glandular barrier surfaces: near-insert cells become WORSE than exterior (reverse of LOSO).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Predicted vs. actual — LOPO-cell (unseen cells)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Arrows grow and pull inward; red-ringed points sit over the glandular insert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86410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5" name="Image 0" descr="pred_vs_actual_lopo_emp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3836" y="1755648"/>
            <a:ext cx="3200400" cy="331012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6410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 in</a:t>
            </a:r>
            <a:endParaRPr lang="en-US" sz="1300" dirty="0"/>
          </a:p>
        </p:txBody>
      </p:sp>
      <p:sp>
        <p:nvSpPr>
          <p:cNvPr id="7" name="Shape 4"/>
          <p:cNvSpPr/>
          <p:nvPr/>
        </p:nvSpPr>
        <p:spPr>
          <a:xfrm>
            <a:off x="438454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8" name="Image 1" descr="pred_vs_actual_lopo_f4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94276" y="1755648"/>
            <a:ext cx="3200400" cy="3310128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438454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0.49 in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7904988" y="1627632"/>
            <a:ext cx="3419856" cy="3950208"/>
          </a:xfrm>
          <a:prstGeom prst="roundRect">
            <a:avLst>
              <a:gd name="adj" fmla="val 2406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pic>
        <p:nvPicPr>
          <p:cNvPr id="11" name="Image 2" descr="pred_vs_actual_lopo_f5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14716" y="1755648"/>
            <a:ext cx="3200400" cy="3310128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7904988" y="5084064"/>
            <a:ext cx="341985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  </a:t>
            </a:r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0.67 in</a:t>
            </a:r>
            <a:endParaRPr lang="en-US" sz="1300" dirty="0"/>
          </a:p>
        </p:txBody>
      </p:sp>
      <p:sp>
        <p:nvSpPr>
          <p:cNvPr id="13" name="Text 8"/>
          <p:cNvSpPr/>
          <p:nvPr/>
        </p:nvSpPr>
        <p:spPr>
          <a:xfrm>
            <a:off x="548640" y="6144768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B6B7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Interpolation error climbs with insert size (0.47 → 0.49 → 0.67 in) and concentrates near the insert — the CNN can't bridge a dielectric barrier it never sampled.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Hold out a single position (LOPO-subpos)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ONE sub-position — its 3 cell-mates (~0.375 in away) stay in training</a:t>
            </a:r>
            <a:endParaRPr lang="en-US" sz="1400" dirty="0"/>
          </a:p>
        </p:txBody>
      </p:sp>
      <p:pic>
        <p:nvPicPr>
          <p:cNvPr id="4" name="Image 0" descr="../results/cnn_reglopo_pooled_subpos_June18_remap_raw_spati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1600200"/>
            <a:ext cx="4572000" cy="448056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502920" y="6053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· 0.39 in (9.9 mm)</a:t>
            </a:r>
            <a:endParaRPr lang="en-US" sz="1300" dirty="0"/>
          </a:p>
        </p:txBody>
      </p:sp>
      <p:pic>
        <p:nvPicPr>
          <p:cNvPr id="6" name="Image 1" descr="../results/cnn_reglopo_pooled_subpos_A3_F5_SamMed_last3_raw_spatial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57800" y="1600200"/>
            <a:ext cx="4572000" cy="448056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5257800" y="60533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insert · 0.55 in (13.9 mm)</a:t>
            </a:r>
            <a:endParaRPr lang="en-US" sz="1300" dirty="0"/>
          </a:p>
        </p:txBody>
      </p:sp>
      <p:sp>
        <p:nvSpPr>
          <p:cNvPr id="8" name="Shape 4"/>
          <p:cNvSpPr/>
          <p:nvPr/>
        </p:nvSpPr>
        <p:spPr>
          <a:xfrm>
            <a:off x="10012680" y="1600200"/>
            <a:ext cx="1737360" cy="4480560"/>
          </a:xfrm>
          <a:prstGeom prst="roundRect">
            <a:avLst>
              <a:gd name="adj" fmla="val 4737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9" name="Text 5"/>
          <p:cNvSpPr/>
          <p:nvPr/>
        </p:nvSpPr>
        <p:spPr>
          <a:xfrm>
            <a:off x="10104120" y="1737360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easier than cell</a:t>
            </a:r>
            <a:endParaRPr lang="en-US" sz="1350" dirty="0"/>
          </a:p>
        </p:txBody>
      </p:sp>
      <p:sp>
        <p:nvSpPr>
          <p:cNvPr id="10" name="Text 6"/>
          <p:cNvSpPr/>
          <p:nvPr/>
        </p:nvSpPr>
        <p:spPr>
          <a:xfrm>
            <a:off x="10104120" y="2331720"/>
            <a:ext cx="1554480" cy="3657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Cell-mates remain as close anchors, so subpos &lt; cell error: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empty 0.39 vs 0.47 in</a:t>
            </a:r>
            <a:endParaRPr lang="en-US" sz="1150" dirty="0"/>
          </a:p>
          <a:p>
            <a:pPr marL="342900" indent="-342900">
              <a:buSzPct val="100000"/>
              <a:buChar char="•"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0.55 vs 0.67 in</a:t>
            </a:r>
            <a:endParaRPr lang="en-US" sz="1150" dirty="0"/>
          </a:p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 &gt; the 6 mm k-NN signal floor → the CNN is data-starved on ~50 positions (see Part 3).</a:t>
            </a:r>
            <a:endParaRPr lang="en-US" sz="11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All three protocols side by side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hard is each generalization task? (raw-CNN median error, inches)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554480"/>
          <a:ext cx="704088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863840" y="1554480"/>
            <a:ext cx="3749040" cy="4663440"/>
          </a:xfrm>
          <a:prstGeom prst="roundRect">
            <a:avLst>
              <a:gd name="adj" fmla="val 2195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092440" y="1737360"/>
            <a:ext cx="3291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5D7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ladder of difficulty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8092440" y="2194560"/>
            <a:ext cx="329184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LOSO (0.15–0.22 in): a new scan of KNOWN positions — easy.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LOPO-subpos (0.39–0.55): unseen point, close anchors — medium.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LOPO-cell (0.47–0.67): unseen 1-in cell, no anchor — hardest.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Insert size raises every bar; the gap widens as the task gets harder.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110916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900" b="1" dirty="0">
                <a:solidFill>
                  <a:srgbClr val="1E293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Can we teach it to interpolate?</a:t>
            </a:r>
            <a:endParaRPr lang="en-US" sz="2900" dirty="0"/>
          </a:p>
        </p:txBody>
      </p:sp>
      <p:sp>
        <p:nvSpPr>
          <p:cNvPr id="3" name="Text 1"/>
          <p:cNvSpPr/>
          <p:nvPr/>
        </p:nvSpPr>
        <p:spPr>
          <a:xfrm>
            <a:off x="548640" y="1033272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fixes on the hardest case (F5 LOPO-cell, baseline 0.664 in) — only one helps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600200"/>
          <a:ext cx="731520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8092440" y="1600200"/>
            <a:ext cx="3520440" cy="4572000"/>
          </a:xfrm>
          <a:prstGeom prst="roundRect">
            <a:avLst>
              <a:gd name="adj" fmla="val 2338"/>
            </a:avLst>
          </a:prstGeom>
          <a:solidFill>
            <a:srgbClr val="F3F7FA"/>
          </a:solidFill>
          <a:ln w="12700">
            <a:solidFill>
              <a:srgbClr val="D8E2EA"/>
            </a:solidFill>
            <a:prstDash val="solid"/>
          </a:ln>
          <a:effectLst>
            <a:outerShdw sx="100000" sy="100000" kx="0" ky="0" algn="bl" rotWithShape="0" blurRad="88900" dist="38100" dir="5400000">
              <a:srgbClr val="5B6B7B">
                <a:alpha val="18000"/>
              </a:srgbClr>
            </a:outerShdw>
          </a:effectLst>
        </p:spPr>
      </p:sp>
      <p:sp>
        <p:nvSpPr>
          <p:cNvPr id="6" name="Text 3"/>
          <p:cNvSpPr/>
          <p:nvPr/>
        </p:nvSpPr>
        <p:spPr>
          <a:xfrm>
            <a:off x="8321040" y="1783080"/>
            <a:ext cx="3108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CC4A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Verdict</a:t>
            </a:r>
            <a:endParaRPr lang="en-US" sz="1600" dirty="0"/>
          </a:p>
        </p:txBody>
      </p:sp>
      <p:sp>
        <p:nvSpPr>
          <p:cNvPr id="7" name="Text 4"/>
          <p:cNvSpPr/>
          <p:nvPr/>
        </p:nvSpPr>
        <p:spPr>
          <a:xfrm>
            <a:off x="8321040" y="2240280"/>
            <a:ext cx="310896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CC4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— WIN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blend sample pairs + their (x,y): 0.664 → 0.572, and it helps the barrier region most.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Position-disjoint validation — no</a:t>
            </a:r>
            <a:endParaRPr lang="en-US" sz="1300" dirty="0"/>
          </a:p>
          <a:p>
            <a:pPr indent="0" marL="0">
              <a:spcAft>
                <a:spcPts val="10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starves the ~30 scarce training positions.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Heatmap output — no</a:t>
            </a:r>
            <a:endParaRPr lang="en-US" sz="13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centroid readout biases predictions toward centre.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E223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640080"/>
            <a:ext cx="10058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Part 1 — bottom 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822960" y="1600200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4" name="Text 2"/>
          <p:cNvSpPr/>
          <p:nvPr/>
        </p:nvSpPr>
        <p:spPr>
          <a:xfrm>
            <a:off x="822960" y="16002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71600" y="1508760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CNN localizes to a sixth of a cell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≈0.15 in (3.9 mm) cross-session on empty, &lt;¼ in with a glandular insert — regression works, and the CNN owns it.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822960" y="2569464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7" name="Text 5"/>
          <p:cNvSpPr/>
          <p:nvPr/>
        </p:nvSpPr>
        <p:spPr>
          <a:xfrm>
            <a:off x="822960" y="25694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371600" y="2478024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Raw beats physics for regression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physics features are redundant for the CNN and outright break the MLP — the reverse of the classification result.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822960" y="3538728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0" name="Text 8"/>
          <p:cNvSpPr/>
          <p:nvPr/>
        </p:nvSpPr>
        <p:spPr>
          <a:xfrm>
            <a:off x="822960" y="35387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3447288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Difficulty ladder: LOSO &lt; subpos &lt; cell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new scan of known spots is easy; an unseen single point is medium; an unseen whole cell is 3–4× harder than LOSO.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22960" y="4507992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3" name="Text 11"/>
          <p:cNvSpPr/>
          <p:nvPr/>
        </p:nvSpPr>
        <p:spPr>
          <a:xfrm>
            <a:off x="822960" y="450799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371600" y="4416552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glandular barrier is real &amp; measurable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LOPO error concentrates on near-insert cells and grows with insert size — the model can't interpolate across the dielectric jump.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822960" y="5477256"/>
            <a:ext cx="384048" cy="384048"/>
          </a:xfrm>
          <a:prstGeom prst="ellipse">
            <a:avLst/>
          </a:prstGeom>
          <a:solidFill>
            <a:srgbClr val="2CC4A3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47725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23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71600" y="5385816"/>
            <a:ext cx="102412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Mixup is the one lever that helps  —  </a:t>
            </a:r>
            <a:pPr indent="0" marL="0">
              <a:buNone/>
            </a:pPr>
            <a:r>
              <a:rPr lang="en-US" sz="1400" dirty="0">
                <a:solidFill>
                  <a:srgbClr val="AECB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teaching a smooth signal→coordinate map cuts error 14 %; validation-splitting and heatmap output hurt on this small set.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22960" y="64008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C9A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github.com/pmart1534/microwave-phantom-localization-cnn-mlp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Measured Regression</dc:title>
  <dc:subject>PptxGenJS Presentation</dc:subject>
  <dc:creator>Peter Martin</dc:creator>
  <cp:lastModifiedBy>Peter Martin</cp:lastModifiedBy>
  <cp:revision>1</cp:revision>
  <dcterms:created xsi:type="dcterms:W3CDTF">2026-07-15T16:41:44Z</dcterms:created>
  <dcterms:modified xsi:type="dcterms:W3CDTF">2026-07-15T16:41:44Z</dcterms:modified>
</cp:coreProperties>
</file>