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8F6"/>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BE0000"/>
          </a:solidFill>
          <a:ln/>
        </p:spPr>
      </p:sp>
      <p:sp>
        <p:nvSpPr>
          <p:cNvPr id="3" name="Shape 1"/>
          <p:cNvSpPr/>
          <p:nvPr/>
        </p:nvSpPr>
        <p:spPr>
          <a:xfrm>
            <a:off x="822960" y="1847088"/>
            <a:ext cx="82296" cy="1371600"/>
          </a:xfrm>
          <a:prstGeom prst="rect">
            <a:avLst/>
          </a:prstGeom>
          <a:solidFill>
            <a:srgbClr val="BE0000"/>
          </a:solidFill>
          <a:ln/>
        </p:spPr>
      </p:sp>
      <p:sp>
        <p:nvSpPr>
          <p:cNvPr id="4" name="Text 2"/>
          <p:cNvSpPr/>
          <p:nvPr/>
        </p:nvSpPr>
        <p:spPr>
          <a:xfrm>
            <a:off x="1097280" y="1847088"/>
            <a:ext cx="10058400" cy="411480"/>
          </a:xfrm>
          <a:prstGeom prst="rect">
            <a:avLst/>
          </a:prstGeom>
          <a:noFill/>
          <a:ln/>
        </p:spPr>
        <p:txBody>
          <a:bodyPr wrap="square" lIns="0" tIns="0" rIns="0" bIns="0" rtlCol="0" anchor="ctr"/>
          <a:lstStyle/>
          <a:p>
            <a:pPr indent="0" marL="0">
              <a:buNone/>
            </a:pPr>
            <a:r>
              <a:rPr lang="en-US" sz="1500" b="1" spc="300" kern="0" dirty="0">
                <a:solidFill>
                  <a:srgbClr val="BE0000"/>
                </a:solidFill>
                <a:latin typeface="Calibri" pitchFamily="34" charset="0"/>
                <a:ea typeface="Calibri" pitchFamily="34" charset="-122"/>
                <a:cs typeface="Calibri" pitchFamily="34" charset="-120"/>
              </a:rPr>
              <a:t>PART 3 . SIM vs MEASURED</a:t>
            </a:r>
            <a:endParaRPr lang="en-US" sz="1500" dirty="0"/>
          </a:p>
        </p:txBody>
      </p:sp>
      <p:sp>
        <p:nvSpPr>
          <p:cNvPr id="5" name="Text 3"/>
          <p:cNvSpPr/>
          <p:nvPr/>
        </p:nvSpPr>
        <p:spPr>
          <a:xfrm>
            <a:off x="1097280" y="2286000"/>
            <a:ext cx="10241280" cy="914400"/>
          </a:xfrm>
          <a:prstGeom prst="rect">
            <a:avLst/>
          </a:prstGeom>
          <a:noFill/>
          <a:ln/>
        </p:spPr>
        <p:txBody>
          <a:bodyPr wrap="square" lIns="0" tIns="0" rIns="0" bIns="0" rtlCol="0" anchor="ctr"/>
          <a:lstStyle/>
          <a:p>
            <a:pPr indent="0" marL="0">
              <a:buNone/>
            </a:pPr>
            <a:r>
              <a:rPr lang="en-US" sz="3400" b="1" dirty="0">
                <a:solidFill>
                  <a:srgbClr val="2A1618"/>
                </a:solidFill>
                <a:latin typeface="Cambria" pitchFamily="34" charset="0"/>
                <a:ea typeface="Cambria" pitchFamily="34" charset="-122"/>
                <a:cs typeface="Cambria" pitchFamily="34" charset="-120"/>
              </a:rPr>
              <a:t>Comparing simulation and bench, empty phantom</a:t>
            </a:r>
            <a:endParaRPr lang="en-US" sz="3400" dirty="0"/>
          </a:p>
        </p:txBody>
      </p:sp>
      <p:sp>
        <p:nvSpPr>
          <p:cNvPr id="6" name="Text 4"/>
          <p:cNvSpPr/>
          <p:nvPr/>
        </p:nvSpPr>
        <p:spPr>
          <a:xfrm>
            <a:off x="1097280" y="3310128"/>
            <a:ext cx="10058400" cy="640080"/>
          </a:xfrm>
          <a:prstGeom prst="rect">
            <a:avLst/>
          </a:prstGeom>
          <a:noFill/>
          <a:ln/>
        </p:spPr>
        <p:txBody>
          <a:bodyPr wrap="square" lIns="0" tIns="0" rIns="0" bIns="0" rtlCol="0" anchor="ctr"/>
          <a:lstStyle/>
          <a:p>
            <a:pPr indent="0" marL="0">
              <a:buNone/>
            </a:pPr>
            <a:r>
              <a:rPr lang="en-US" sz="1550" dirty="0">
                <a:solidFill>
                  <a:srgbClr val="836A68"/>
                </a:solidFill>
                <a:latin typeface="Calibri" pitchFamily="34" charset="0"/>
                <a:ea typeface="Calibri" pitchFamily="34" charset="-122"/>
                <a:cs typeface="Calibri" pitchFamily="34" charset="-120"/>
              </a:rPr>
              <a:t>Do the two agree? The signal interpolates equally well on both; the apparent gap is data coverage, not simulation fidelity</a:t>
            </a:r>
            <a:endParaRPr lang="en-US" sz="1550" dirty="0"/>
          </a:p>
        </p:txBody>
      </p:sp>
      <p:sp>
        <p:nvSpPr>
          <p:cNvPr id="7" name="Text 5"/>
          <p:cNvSpPr/>
          <p:nvPr/>
        </p:nvSpPr>
        <p:spPr>
          <a:xfrm>
            <a:off x="1097280" y="4526280"/>
            <a:ext cx="3520440" cy="640080"/>
          </a:xfrm>
          <a:prstGeom prst="rect">
            <a:avLst/>
          </a:prstGeom>
          <a:noFill/>
          <a:ln/>
        </p:spPr>
        <p:txBody>
          <a:bodyPr wrap="square" lIns="0" tIns="0" rIns="0" bIns="0" rtlCol="0" anchor="ctr"/>
          <a:lstStyle/>
          <a:p>
            <a:pPr indent="0" marL="0">
              <a:buNone/>
            </a:pPr>
            <a:r>
              <a:rPr lang="en-US" sz="2500" b="1" dirty="0">
                <a:solidFill>
                  <a:srgbClr val="BE0000"/>
                </a:solidFill>
                <a:latin typeface="Cambria" pitchFamily="34" charset="0"/>
                <a:ea typeface="Cambria" pitchFamily="34" charset="-122"/>
                <a:cs typeface="Cambria" pitchFamily="34" charset="-120"/>
              </a:rPr>
              <a:t>6.7 vs 6.0 mm</a:t>
            </a:r>
            <a:endParaRPr lang="en-US" sz="2500" dirty="0"/>
          </a:p>
        </p:txBody>
      </p:sp>
      <p:sp>
        <p:nvSpPr>
          <p:cNvPr id="8" name="Text 6"/>
          <p:cNvSpPr/>
          <p:nvPr/>
        </p:nvSpPr>
        <p:spPr>
          <a:xfrm>
            <a:off x="1097280" y="5138928"/>
            <a:ext cx="3566160" cy="548640"/>
          </a:xfrm>
          <a:prstGeom prst="rect">
            <a:avLst/>
          </a:prstGeom>
          <a:noFill/>
          <a:ln/>
        </p:spPr>
        <p:txBody>
          <a:bodyPr wrap="square" lIns="0" tIns="0" rIns="0" bIns="0" rtlCol="0" anchor="ctr"/>
          <a:lstStyle/>
          <a:p>
            <a:pPr indent="0" marL="0">
              <a:buNone/>
            </a:pPr>
            <a:r>
              <a:rPr lang="en-US" sz="1250" dirty="0">
                <a:solidFill>
                  <a:srgbClr val="836A68"/>
                </a:solidFill>
                <a:latin typeface="Calibri" pitchFamily="34" charset="0"/>
                <a:ea typeface="Calibri" pitchFamily="34" charset="-122"/>
                <a:cs typeface="Calibri" pitchFamily="34" charset="-120"/>
              </a:rPr>
              <a:t>k-NN signal floor: sim ~ measured</a:t>
            </a:r>
            <a:endParaRPr lang="en-US" sz="1250" dirty="0"/>
          </a:p>
        </p:txBody>
      </p:sp>
      <p:sp>
        <p:nvSpPr>
          <p:cNvPr id="9" name="Text 7"/>
          <p:cNvSpPr/>
          <p:nvPr/>
        </p:nvSpPr>
        <p:spPr>
          <a:xfrm>
            <a:off x="4709160" y="4526280"/>
            <a:ext cx="3520440" cy="640080"/>
          </a:xfrm>
          <a:prstGeom prst="rect">
            <a:avLst/>
          </a:prstGeom>
          <a:noFill/>
          <a:ln/>
        </p:spPr>
        <p:txBody>
          <a:bodyPr wrap="square" lIns="0" tIns="0" rIns="0" bIns="0" rtlCol="0" anchor="ctr"/>
          <a:lstStyle/>
          <a:p>
            <a:pPr indent="0" marL="0">
              <a:buNone/>
            </a:pPr>
            <a:r>
              <a:rPr lang="en-US" sz="2500" b="1" dirty="0">
                <a:solidFill>
                  <a:srgbClr val="BE0000"/>
                </a:solidFill>
                <a:latin typeface="Cambria" pitchFamily="34" charset="0"/>
                <a:ea typeface="Cambria" pitchFamily="34" charset="-122"/>
                <a:cs typeface="Cambria" pitchFamily="34" charset="-120"/>
              </a:rPr>
              <a:t>distinct positions</a:t>
            </a:r>
            <a:endParaRPr lang="en-US" sz="2500" dirty="0"/>
          </a:p>
        </p:txBody>
      </p:sp>
      <p:sp>
        <p:nvSpPr>
          <p:cNvPr id="10" name="Text 8"/>
          <p:cNvSpPr/>
          <p:nvPr/>
        </p:nvSpPr>
        <p:spPr>
          <a:xfrm>
            <a:off x="4709160" y="5138928"/>
            <a:ext cx="3566160" cy="548640"/>
          </a:xfrm>
          <a:prstGeom prst="rect">
            <a:avLst/>
          </a:prstGeom>
          <a:noFill/>
          <a:ln/>
        </p:spPr>
        <p:txBody>
          <a:bodyPr wrap="square" lIns="0" tIns="0" rIns="0" bIns="0" rtlCol="0" anchor="ctr"/>
          <a:lstStyle/>
          <a:p>
            <a:pPr indent="0" marL="0">
              <a:buNone/>
            </a:pPr>
            <a:r>
              <a:rPr lang="en-US" sz="1250" dirty="0">
                <a:solidFill>
                  <a:srgbClr val="836A68"/>
                </a:solidFill>
                <a:latin typeface="Calibri" pitchFamily="34" charset="0"/>
                <a:ea typeface="Calibri" pitchFamily="34" charset="-122"/>
                <a:cs typeface="Calibri" pitchFamily="34" charset="-120"/>
              </a:rPr>
              <a:t>the real driver of the CNN gap</a:t>
            </a:r>
            <a:endParaRPr lang="en-US" sz="1250" dirty="0"/>
          </a:p>
        </p:txBody>
      </p:sp>
      <p:sp>
        <p:nvSpPr>
          <p:cNvPr id="11" name="Text 9"/>
          <p:cNvSpPr/>
          <p:nvPr/>
        </p:nvSpPr>
        <p:spPr>
          <a:xfrm>
            <a:off x="8321040" y="4526280"/>
            <a:ext cx="3520440" cy="640080"/>
          </a:xfrm>
          <a:prstGeom prst="rect">
            <a:avLst/>
          </a:prstGeom>
          <a:noFill/>
          <a:ln/>
        </p:spPr>
        <p:txBody>
          <a:bodyPr wrap="square" lIns="0" tIns="0" rIns="0" bIns="0" rtlCol="0" anchor="ctr"/>
          <a:lstStyle/>
          <a:p>
            <a:pPr indent="0" marL="0">
              <a:buNone/>
            </a:pPr>
            <a:r>
              <a:rPr lang="en-US" sz="2500" b="1" dirty="0">
                <a:solidFill>
                  <a:srgbClr val="BE0000"/>
                </a:solidFill>
                <a:latin typeface="Cambria" pitchFamily="34" charset="0"/>
                <a:ea typeface="Cambria" pitchFamily="34" charset="-122"/>
                <a:cs typeface="Cambria" pitchFamily="34" charset="-120"/>
              </a:rPr>
              <a:t>R2 = 0.65</a:t>
            </a:r>
            <a:endParaRPr lang="en-US" sz="2500" dirty="0"/>
          </a:p>
        </p:txBody>
      </p:sp>
      <p:sp>
        <p:nvSpPr>
          <p:cNvPr id="12" name="Text 10"/>
          <p:cNvSpPr/>
          <p:nvPr/>
        </p:nvSpPr>
        <p:spPr>
          <a:xfrm>
            <a:off x="8321040" y="5138928"/>
            <a:ext cx="3566160" cy="548640"/>
          </a:xfrm>
          <a:prstGeom prst="rect">
            <a:avLst/>
          </a:prstGeom>
          <a:noFill/>
          <a:ln/>
        </p:spPr>
        <p:txBody>
          <a:bodyPr wrap="square" lIns="0" tIns="0" rIns="0" bIns="0" rtlCol="0" anchor="ctr"/>
          <a:lstStyle/>
          <a:p>
            <a:pPr indent="0" marL="0">
              <a:buNone/>
            </a:pPr>
            <a:r>
              <a:rPr lang="en-US" sz="1250" dirty="0">
                <a:solidFill>
                  <a:srgbClr val="836A68"/>
                </a:solidFill>
                <a:latin typeface="Calibri" pitchFamily="34" charset="0"/>
                <a:ea typeface="Calibri" pitchFamily="34" charset="-122"/>
                <a:cs typeface="Calibri" pitchFamily="34" charset="-120"/>
              </a:rPr>
              <a:t>empty signal transfers; tumor transfer still open</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The two setups, side by side</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The physical A3 phantom on its grid, and the HFSS model of the same phantom</a:t>
            </a:r>
            <a:endParaRPr lang="en-US" sz="1400" dirty="0"/>
          </a:p>
        </p:txBody>
      </p:sp>
      <p:sp>
        <p:nvSpPr>
          <p:cNvPr id="4" name="Shape 2"/>
          <p:cNvSpPr/>
          <p:nvPr/>
        </p:nvSpPr>
        <p:spPr>
          <a:xfrm>
            <a:off x="1463040" y="1645920"/>
            <a:ext cx="3493008" cy="4434840"/>
          </a:xfrm>
          <a:prstGeom prst="roundRect">
            <a:avLst>
              <a:gd name="adj" fmla="val 2356"/>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pic>
        <p:nvPicPr>
          <p:cNvPr id="5" name="Image 0" descr="setup_photos/A3.jpg">    </p:cNvPr>
          <p:cNvPicPr>
            <a:picLocks noChangeAspect="1"/>
          </p:cNvPicPr>
          <p:nvPr/>
        </p:nvPicPr>
        <p:blipFill>
          <a:blip r:embed="rId1"/>
          <a:stretch>
            <a:fillRect/>
          </a:stretch>
        </p:blipFill>
        <p:spPr>
          <a:xfrm>
            <a:off x="1554480" y="1737360"/>
            <a:ext cx="3310128" cy="3931920"/>
          </a:xfrm>
          <a:prstGeom prst="rect">
            <a:avLst/>
          </a:prstGeom>
        </p:spPr>
      </p:pic>
      <p:sp>
        <p:nvSpPr>
          <p:cNvPr id="6" name="Text 3"/>
          <p:cNvSpPr/>
          <p:nvPr/>
        </p:nvSpPr>
        <p:spPr>
          <a:xfrm>
            <a:off x="1463040" y="5687568"/>
            <a:ext cx="3493008" cy="365760"/>
          </a:xfrm>
          <a:prstGeom prst="rect">
            <a:avLst/>
          </a:prstGeom>
          <a:noFill/>
          <a:ln/>
        </p:spPr>
        <p:txBody>
          <a:bodyPr wrap="square" lIns="0" tIns="0" rIns="0" bIns="0" rtlCol="0" anchor="ctr"/>
          <a:lstStyle/>
          <a:p>
            <a:pPr algn="ctr" indent="0" marL="0">
              <a:buNone/>
            </a:pPr>
            <a:r>
              <a:rPr lang="en-US" sz="1300" b="1" dirty="0">
                <a:solidFill>
                  <a:srgbClr val="2A1618"/>
                </a:solidFill>
                <a:latin typeface="Calibri" pitchFamily="34" charset="0"/>
                <a:ea typeface="Calibri" pitchFamily="34" charset="-122"/>
                <a:cs typeface="Calibri" pitchFamily="34" charset="-120"/>
              </a:rPr>
              <a:t>Measured: A3 phantom + 6x6 grid + antennas</a:t>
            </a:r>
            <a:endParaRPr lang="en-US" sz="1300" dirty="0"/>
          </a:p>
        </p:txBody>
      </p:sp>
      <p:sp>
        <p:nvSpPr>
          <p:cNvPr id="7" name="Shape 4"/>
          <p:cNvSpPr/>
          <p:nvPr/>
        </p:nvSpPr>
        <p:spPr>
          <a:xfrm>
            <a:off x="5943600" y="1645920"/>
            <a:ext cx="4782312" cy="4434840"/>
          </a:xfrm>
          <a:prstGeom prst="roundRect">
            <a:avLst>
              <a:gd name="adj" fmla="val 1856"/>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pic>
        <p:nvPicPr>
          <p:cNvPr id="8" name="Image 1" descr="setup_photos/SimulatedImage01.png">    </p:cNvPr>
          <p:cNvPicPr>
            <a:picLocks noChangeAspect="1"/>
          </p:cNvPicPr>
          <p:nvPr/>
        </p:nvPicPr>
        <p:blipFill>
          <a:blip r:embed="rId2"/>
          <a:stretch>
            <a:fillRect/>
          </a:stretch>
        </p:blipFill>
        <p:spPr>
          <a:xfrm>
            <a:off x="6035040" y="1737360"/>
            <a:ext cx="4599432" cy="3931920"/>
          </a:xfrm>
          <a:prstGeom prst="rect">
            <a:avLst/>
          </a:prstGeom>
        </p:spPr>
      </p:pic>
      <p:sp>
        <p:nvSpPr>
          <p:cNvPr id="9" name="Text 5"/>
          <p:cNvSpPr/>
          <p:nvPr/>
        </p:nvSpPr>
        <p:spPr>
          <a:xfrm>
            <a:off x="5943600" y="5687568"/>
            <a:ext cx="4782312" cy="365760"/>
          </a:xfrm>
          <a:prstGeom prst="rect">
            <a:avLst/>
          </a:prstGeom>
          <a:noFill/>
          <a:ln/>
        </p:spPr>
        <p:txBody>
          <a:bodyPr wrap="square" lIns="0" tIns="0" rIns="0" bIns="0" rtlCol="0" anchor="ctr"/>
          <a:lstStyle/>
          <a:p>
            <a:pPr algn="ctr" indent="0" marL="0">
              <a:buNone/>
            </a:pPr>
            <a:r>
              <a:rPr lang="en-US" sz="1300" b="1" dirty="0">
                <a:solidFill>
                  <a:srgbClr val="2A1618"/>
                </a:solidFill>
                <a:latin typeface="Calibri" pitchFamily="34" charset="0"/>
                <a:ea typeface="Calibri" pitchFamily="34" charset="-122"/>
                <a:cs typeface="Calibri" pitchFamily="34" charset="-120"/>
              </a:rPr>
              <a:t>Simulated: HFSS phantom, oil, antennas, tumor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Two sampling grids, and their overlay</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Same phantom, different coverage; the right panel registers both into one physical frame</a:t>
            </a:r>
            <a:endParaRPr lang="en-US" sz="1400" dirty="0"/>
          </a:p>
        </p:txBody>
      </p:sp>
      <p:pic>
        <p:nvPicPr>
          <p:cNvPr id="4" name="Image 0" descr="grid_sim_vs_physical.png">    </p:cNvPr>
          <p:cNvPicPr>
            <a:picLocks noChangeAspect="1"/>
          </p:cNvPicPr>
          <p:nvPr/>
        </p:nvPicPr>
        <p:blipFill>
          <a:blip r:embed="rId1"/>
          <a:stretch>
            <a:fillRect/>
          </a:stretch>
        </p:blipFill>
        <p:spPr>
          <a:xfrm>
            <a:off x="457200" y="1554480"/>
            <a:ext cx="11292840" cy="48920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What differs between the two</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Same antenna design, but grid, depth coverage, band and noise differ</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2468880"/>
                <a:gridCol w="4206240"/>
                <a:gridCol w="4206240"/>
              </a:tblGrid>
              <a:tr h="548640">
                <a:tc>
                  <a:txBody>
                    <a:bodyPr/>
                    <a:lstStyle/>
                    <a:p>
                      <a:pPr algn="l" indent="0" marL="0">
                        <a:buNone/>
                      </a:pPr>
                      <a:endParaRPr lang="en-US" sz="1500" dirty="0">
                        <a:latin typeface="Cambria" charset="0"/>
                        <a:ea typeface="Cambria" charset="0"/>
                        <a:cs typeface="Cambria"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BE000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Simulated (HFSS)</a:t>
                      </a:r>
                      <a:endParaRPr lang="en-US" sz="150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BE000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Measured (bench VNA)</a:t>
                      </a:r>
                      <a:endParaRPr lang="en-US" sz="150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BE0000"/>
                    </a:solidFill>
                  </a:tcPr>
                </a:tc>
              </a:tr>
              <a:tr h="548640">
                <a:tc>
                  <a:txBody>
                    <a:bodyPr/>
                    <a:lstStyle/>
                    <a:p>
                      <a:pPr algn="l" indent="0" marL="0">
                        <a:buNone/>
                      </a:pPr>
                      <a:r>
                        <a:rPr lang="en-US" sz="1350" b="1" dirty="0">
                          <a:solidFill>
                            <a:srgbClr val="BE0000"/>
                          </a:solidFill>
                          <a:latin typeface="Cambria" pitchFamily="34" charset="0"/>
                          <a:ea typeface="Cambria" pitchFamily="34" charset="-122"/>
                          <a:cs typeface="Cambria" pitchFamily="34" charset="-120"/>
                        </a:rPr>
                        <a:t>Antennas</a:t>
                      </a:r>
                      <a:endParaRPr lang="en-US" sz="1350" dirty="0">
                        <a:latin typeface="Cambria" charset="0"/>
                        <a:ea typeface="Cambria" charset="0"/>
                        <a:cs typeface="Cambria"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Sam's Medium Antennas (HFSS model)</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Sam's Medium Antennas (physical build)</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r>
              <a:tr h="548640">
                <a:tc>
                  <a:txBody>
                    <a:bodyPr/>
                    <a:lstStyle/>
                    <a:p>
                      <a:pPr algn="l" indent="0" marL="0">
                        <a:buNone/>
                      </a:pPr>
                      <a:r>
                        <a:rPr lang="en-US" sz="1350" b="1" dirty="0">
                          <a:solidFill>
                            <a:srgbClr val="BE0000"/>
                          </a:solidFill>
                          <a:latin typeface="Cambria" pitchFamily="34" charset="0"/>
                          <a:ea typeface="Cambria" pitchFamily="34" charset="-122"/>
                          <a:cs typeface="Cambria" pitchFamily="34" charset="-120"/>
                        </a:rPr>
                        <a:t>Grid</a:t>
                      </a:r>
                      <a:endParaRPr lang="en-US" sz="1350" dirty="0">
                        <a:latin typeface="Cambria" charset="0"/>
                        <a:ea typeface="Cambria" charset="0"/>
                        <a:cs typeface="Cambria"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uniform 10 mm lattice, 91 positions</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6x6 cells, 4 corners each; 51 measured</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r>
              <a:tr h="548640">
                <a:tc>
                  <a:txBody>
                    <a:bodyPr/>
                    <a:lstStyle/>
                    <a:p>
                      <a:pPr algn="l" indent="0" marL="0">
                        <a:buNone/>
                      </a:pPr>
                      <a:r>
                        <a:rPr lang="en-US" sz="1350" b="1" dirty="0">
                          <a:solidFill>
                            <a:srgbClr val="BE0000"/>
                          </a:solidFill>
                          <a:latin typeface="Cambria" pitchFamily="34" charset="0"/>
                          <a:ea typeface="Cambria" pitchFamily="34" charset="-122"/>
                          <a:cs typeface="Cambria" pitchFamily="34" charset="-120"/>
                        </a:rPr>
                        <a:t>Depth</a:t>
                      </a:r>
                      <a:endParaRPr lang="en-US" sz="1350" dirty="0">
                        <a:latin typeface="Cambria" charset="0"/>
                        <a:ea typeface="Cambria" charset="0"/>
                        <a:cs typeface="Cambria"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13 planes, z = -15 to +45 mm</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single height, ~5 to 20 mm (near the patch)</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r>
              <a:tr h="548640">
                <a:tc>
                  <a:txBody>
                    <a:bodyPr/>
                    <a:lstStyle/>
                    <a:p>
                      <a:pPr algn="l" indent="0" marL="0">
                        <a:buNone/>
                      </a:pPr>
                      <a:r>
                        <a:rPr lang="en-US" sz="1350" b="1" dirty="0">
                          <a:solidFill>
                            <a:srgbClr val="BE0000"/>
                          </a:solidFill>
                          <a:latin typeface="Cambria" pitchFamily="34" charset="0"/>
                          <a:ea typeface="Cambria" pitchFamily="34" charset="-122"/>
                          <a:cs typeface="Cambria" pitchFamily="34" charset="-120"/>
                        </a:rPr>
                        <a:t>Frequency</a:t>
                      </a:r>
                      <a:endParaRPr lang="en-US" sz="1350" dirty="0">
                        <a:latin typeface="Cambria" charset="0"/>
                        <a:ea typeface="Cambria" charset="0"/>
                        <a:cs typeface="Cambria"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2 to 8 GHz, 3001 points</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0.1 to 8 GHz, 791 points</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r>
              <a:tr h="548640">
                <a:tc>
                  <a:txBody>
                    <a:bodyPr/>
                    <a:lstStyle/>
                    <a:p>
                      <a:pPr algn="l" indent="0" marL="0">
                        <a:buNone/>
                      </a:pPr>
                      <a:r>
                        <a:rPr lang="en-US" sz="1350" b="1" dirty="0">
                          <a:solidFill>
                            <a:srgbClr val="BE0000"/>
                          </a:solidFill>
                          <a:latin typeface="Cambria" pitchFamily="34" charset="0"/>
                          <a:ea typeface="Cambria" pitchFamily="34" charset="-122"/>
                          <a:cs typeface="Cambria" pitchFamily="34" charset="-120"/>
                        </a:rPr>
                        <a:t>Noise / drift</a:t>
                      </a:r>
                      <a:endParaRPr lang="en-US" sz="1350" dirty="0">
                        <a:latin typeface="Cambria" charset="0"/>
                        <a:ea typeface="Cambria" charset="0"/>
                        <a:cs typeface="Cambria"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none (deterministic solve)</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measurement noise + cross-session drift</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r>
              <a:tr h="548640">
                <a:tc>
                  <a:txBody>
                    <a:bodyPr/>
                    <a:lstStyle/>
                    <a:p>
                      <a:pPr algn="l" indent="0" marL="0">
                        <a:buNone/>
                      </a:pPr>
                      <a:r>
                        <a:rPr lang="en-US" sz="1350" b="1" dirty="0">
                          <a:solidFill>
                            <a:srgbClr val="BE0000"/>
                          </a:solidFill>
                          <a:latin typeface="Cambria" pitchFamily="34" charset="0"/>
                          <a:ea typeface="Cambria" pitchFamily="34" charset="-122"/>
                          <a:cs typeface="Cambria" pitchFamily="34" charset="-120"/>
                        </a:rPr>
                        <a:t>Repeats</a:t>
                      </a:r>
                      <a:endParaRPr lang="en-US" sz="1350" dirty="0">
                        <a:latin typeface="Cambria" charset="0"/>
                        <a:ea typeface="Cambria" charset="0"/>
                        <a:cs typeface="Cambria"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one solve per position</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A1618"/>
                          </a:solidFill>
                          <a:latin typeface="Calibri" pitchFamily="34" charset="0"/>
                          <a:ea typeface="Calibri" pitchFamily="34" charset="-122"/>
                          <a:cs typeface="Calibri" pitchFamily="34" charset="-120"/>
                        </a:rPr>
                        <a:t>16 takes x 3 sessions per position</a:t>
                      </a:r>
                      <a:endParaRPr lang="en-US" sz="1350" dirty="0">
                        <a:latin typeface="Calibri" charset="0"/>
                        <a:ea typeface="Calibri" charset="0"/>
                        <a:cs typeface="Calibri" charset="0"/>
                      </a:endParaRPr>
                    </a:p>
                  </a:txBody>
                  <a:tcPr marL="76200" marR="76200" marT="50800" marB="508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6126480"/>
            <a:ext cx="10881360" cy="457200"/>
          </a:xfrm>
          <a:prstGeom prst="rect">
            <a:avLst/>
          </a:prstGeom>
          <a:noFill/>
          <a:ln/>
        </p:spPr>
        <p:txBody>
          <a:bodyPr wrap="square" lIns="0" tIns="0" rIns="0" bIns="0" rtlCol="0" anchor="ctr"/>
          <a:lstStyle/>
          <a:p>
            <a:pPr algn="ctr" indent="0" marL="0">
              <a:buNone/>
            </a:pPr>
            <a:r>
              <a:rPr lang="en-US" sz="1300" i="1" dirty="0">
                <a:solidFill>
                  <a:srgbClr val="836A68"/>
                </a:solidFill>
                <a:latin typeface="Calibri" pitchFamily="34" charset="0"/>
                <a:ea typeface="Calibri" pitchFamily="34" charset="-122"/>
                <a:cs typeface="Calibri" pitchFamily="34" charset="-120"/>
              </a:rPr>
              <a:t>The 4 antennas are the SAME design in both; a fair sim vs measured comparison controls for the grid, depth, band and noise.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Reflection per antenna, sim vs measured</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Same design, yet the measured ports differ from each other; the sim ones are near-identical</a:t>
            </a:r>
            <a:endParaRPr lang="en-US" sz="1400" dirty="0"/>
          </a:p>
        </p:txBody>
      </p:sp>
      <p:pic>
        <p:nvPicPr>
          <p:cNvPr id="4" name="Image 0" descr="raw_sparam_sim_vs_meas.png">    </p:cNvPr>
          <p:cNvPicPr>
            <a:picLocks noChangeAspect="1"/>
          </p:cNvPicPr>
          <p:nvPr/>
        </p:nvPicPr>
        <p:blipFill>
          <a:blip r:embed="rId1"/>
          <a:stretch>
            <a:fillRect/>
          </a:stretch>
        </p:blipFill>
        <p:spPr>
          <a:xfrm>
            <a:off x="2148840" y="1554480"/>
            <a:ext cx="7863840" cy="482803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Transmission (coupling) per pair, sim vs measured</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Four representative antenna-to-antenna terms; couplings also differ between domains</a:t>
            </a:r>
            <a:endParaRPr lang="en-US" sz="1400" dirty="0"/>
          </a:p>
        </p:txBody>
      </p:sp>
      <p:pic>
        <p:nvPicPr>
          <p:cNvPr id="4" name="Image 0" descr="transmission_sim_vs_meas.png">    </p:cNvPr>
          <p:cNvPicPr>
            <a:picLocks noChangeAspect="1"/>
          </p:cNvPicPr>
          <p:nvPr/>
        </p:nvPicPr>
        <p:blipFill>
          <a:blip r:embed="rId1"/>
          <a:stretch>
            <a:fillRect/>
          </a:stretch>
        </p:blipFill>
        <p:spPr>
          <a:xfrm>
            <a:off x="2148840" y="1554480"/>
            <a:ext cx="7863840" cy="48280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Detectable difference by reflection S-parameter</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Each reflection Sii localizes on its antenna, in measured (top) and simulated (bottom)</a:t>
            </a:r>
            <a:endParaRPr lang="en-US" sz="1400" dirty="0"/>
          </a:p>
        </p:txBody>
      </p:sp>
      <p:pic>
        <p:nvPicPr>
          <p:cNvPr id="4" name="Image 0" descr="dd_per_sparam.png">    </p:cNvPr>
          <p:cNvPicPr>
            <a:picLocks noChangeAspect="1"/>
          </p:cNvPicPr>
          <p:nvPr/>
        </p:nvPicPr>
        <p:blipFill>
          <a:blip r:embed="rId1"/>
          <a:stretch>
            <a:fillRect/>
          </a:stretch>
        </p:blipFill>
        <p:spPr>
          <a:xfrm>
            <a:off x="274320" y="1417320"/>
            <a:ext cx="11612880" cy="5074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Detectable difference by transmission S-parameter</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Each coupling Sij peaks between its two antennas (sim remapped to physical numbering)</a:t>
            </a:r>
            <a:endParaRPr lang="en-US" sz="1400" dirty="0"/>
          </a:p>
        </p:txBody>
      </p:sp>
      <p:pic>
        <p:nvPicPr>
          <p:cNvPr id="4" name="Image 0" descr="dd_per_sparam_trans.png">    </p:cNvPr>
          <p:cNvPicPr>
            <a:picLocks noChangeAspect="1"/>
          </p:cNvPicPr>
          <p:nvPr/>
        </p:nvPicPr>
        <p:blipFill>
          <a:blip r:embed="rId1"/>
          <a:stretch>
            <a:fillRect/>
          </a:stretch>
        </p:blipFill>
        <p:spPr>
          <a:xfrm>
            <a:off x="274320" y="1417320"/>
            <a:ext cx="11612880" cy="50749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The numbers, signal vs. model</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Does the SIGNAL interpolate, and can the CNN learn it? (empty phantom)</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040880" cy="914400"/>
        </p:xfrm>
        <a:graphic>
          <a:graphicData uri="http://schemas.openxmlformats.org/drawingml/2006/table">
            <a:tbl>
              <a:tblPr/>
              <a:tblGrid>
                <a:gridCol w="3931920"/>
                <a:gridCol w="1554480"/>
                <a:gridCol w="1554480"/>
              </a:tblGrid>
              <a:tr h="65836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Probe</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BE000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Sim empty</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BE000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Measured empty</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BE0000"/>
                    </a:solidFill>
                  </a:tcPr>
                </a:tc>
              </a:tr>
              <a:tr h="658368">
                <a:tc>
                  <a:txBody>
                    <a:bodyPr/>
                    <a:lstStyle/>
                    <a:p>
                      <a:pPr algn="l" indent="0" marL="0">
                        <a:buNone/>
                      </a:pPr>
                      <a:r>
                        <a:rPr lang="en-US" sz="1300" b="1" dirty="0">
                          <a:solidFill>
                            <a:srgbClr val="2A1618"/>
                          </a:solidFill>
                          <a:latin typeface="Calibri" pitchFamily="34" charset="0"/>
                          <a:ea typeface="Calibri" pitchFamily="34" charset="-122"/>
                          <a:cs typeface="Calibri" pitchFamily="34" charset="-120"/>
                        </a:rPr>
                        <a:t>k-NN (training-free signal floor)</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00" dirty="0">
                          <a:solidFill>
                            <a:srgbClr val="BE0000"/>
                          </a:solidFill>
                          <a:latin typeface="Calibri" pitchFamily="34" charset="0"/>
                          <a:ea typeface="Calibri" pitchFamily="34" charset="-122"/>
                          <a:cs typeface="Calibri" pitchFamily="34" charset="-120"/>
                        </a:rPr>
                        <a:t>6.7 mm</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00" dirty="0">
                          <a:solidFill>
                            <a:srgbClr val="BE0000"/>
                          </a:solidFill>
                          <a:latin typeface="Calibri" pitchFamily="34" charset="0"/>
                          <a:ea typeface="Calibri" pitchFamily="34" charset="-122"/>
                          <a:cs typeface="Calibri" pitchFamily="34" charset="-120"/>
                        </a:rPr>
                        <a:t>6.0 mm</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r>
              <a:tr h="658368">
                <a:tc>
                  <a:txBody>
                    <a:bodyPr/>
                    <a:lstStyle/>
                    <a:p>
                      <a:pPr algn="l" indent="0" marL="0">
                        <a:buNone/>
                      </a:pPr>
                      <a:r>
                        <a:rPr lang="en-US" sz="1300" b="1" dirty="0">
                          <a:solidFill>
                            <a:srgbClr val="2A1618"/>
                          </a:solidFill>
                          <a:latin typeface="Calibri" pitchFamily="34" charset="0"/>
                          <a:ea typeface="Calibri" pitchFamily="34" charset="-122"/>
                          <a:cs typeface="Calibri" pitchFamily="34" charset="-120"/>
                        </a:rPr>
                        <a:t>CNN LOSO (new session, seen positions)</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BE000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BE0000"/>
                          </a:solidFill>
                          <a:latin typeface="Calibri" pitchFamily="34" charset="0"/>
                          <a:ea typeface="Calibri" pitchFamily="34" charset="-122"/>
                          <a:cs typeface="Calibri" pitchFamily="34" charset="-120"/>
                        </a:rPr>
                        <a:t>3.9 mm</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r>
              <a:tr h="658368">
                <a:tc>
                  <a:txBody>
                    <a:bodyPr/>
                    <a:lstStyle/>
                    <a:p>
                      <a:pPr algn="l" indent="0" marL="0">
                        <a:buNone/>
                      </a:pPr>
                      <a:r>
                        <a:rPr lang="en-US" sz="1300" b="1" dirty="0">
                          <a:solidFill>
                            <a:srgbClr val="2A1618"/>
                          </a:solidFill>
                          <a:latin typeface="Calibri" pitchFamily="34" charset="0"/>
                          <a:ea typeface="Calibri" pitchFamily="34" charset="-122"/>
                          <a:cs typeface="Calibri" pitchFamily="34" charset="-120"/>
                        </a:rPr>
                        <a:t>CNN LOPO single-position (unseen position)</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00" dirty="0">
                          <a:solidFill>
                            <a:srgbClr val="BE000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c>
                  <a:txBody>
                    <a:bodyPr/>
                    <a:lstStyle/>
                    <a:p>
                      <a:pPr algn="ctr" indent="0" marL="0">
                        <a:buNone/>
                      </a:pPr>
                      <a:r>
                        <a:rPr lang="en-US" sz="1300" dirty="0">
                          <a:solidFill>
                            <a:srgbClr val="BE0000"/>
                          </a:solidFill>
                          <a:latin typeface="Calibri" pitchFamily="34" charset="0"/>
                          <a:ea typeface="Calibri" pitchFamily="34" charset="-122"/>
                          <a:cs typeface="Calibri" pitchFamily="34" charset="-120"/>
                        </a:rPr>
                        <a:t>9.9 mm</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BF4F2"/>
                    </a:solidFill>
                  </a:tcPr>
                </a:tc>
              </a:tr>
              <a:tr h="658368">
                <a:tc>
                  <a:txBody>
                    <a:bodyPr/>
                    <a:lstStyle/>
                    <a:p>
                      <a:pPr algn="l" indent="0" marL="0">
                        <a:buNone/>
                      </a:pPr>
                      <a:r>
                        <a:rPr lang="en-US" sz="1300" b="1" dirty="0">
                          <a:solidFill>
                            <a:srgbClr val="2A1618"/>
                          </a:solidFill>
                          <a:latin typeface="Calibri" pitchFamily="34" charset="0"/>
                          <a:ea typeface="Calibri" pitchFamily="34" charset="-122"/>
                          <a:cs typeface="Calibri" pitchFamily="34" charset="-120"/>
                        </a:rPr>
                        <a:t>CNN 8-fold (full depth stack, ~1000 pos)</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BE0000"/>
                          </a:solidFill>
                          <a:latin typeface="Calibri" pitchFamily="34" charset="0"/>
                          <a:ea typeface="Calibri" pitchFamily="34" charset="-122"/>
                          <a:cs typeface="Calibri" pitchFamily="34" charset="-120"/>
                        </a:rPr>
                        <a:t>3.9 mm</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BE000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63500" marB="63500" anchor="ctr">
                    <a:lnL w="12700" cap="flat" cmpd="sng" algn="ctr">
                      <a:solidFill>
                        <a:srgbClr val="E7D6D1"/>
                      </a:solidFill>
                      <a:prstDash val="solid"/>
                      <a:round/>
                      <a:headEnd type="none" w="med" len="med"/>
                      <a:tailEnd type="none" w="med" len="med"/>
                    </a:lnL>
                    <a:lnR w="12700" cap="flat" cmpd="sng" algn="ctr">
                      <a:solidFill>
                        <a:srgbClr val="E7D6D1"/>
                      </a:solidFill>
                      <a:prstDash val="solid"/>
                      <a:round/>
                      <a:headEnd type="none" w="med" len="med"/>
                      <a:tailEnd type="none" w="med" len="med"/>
                    </a:lnR>
                    <a:lnT w="12700" cap="flat" cmpd="sng" algn="ctr">
                      <a:solidFill>
                        <a:srgbClr val="E7D6D1"/>
                      </a:solidFill>
                      <a:prstDash val="solid"/>
                      <a:round/>
                      <a:headEnd type="none" w="med" len="med"/>
                      <a:tailEnd type="none" w="med" len="med"/>
                    </a:lnT>
                    <a:lnB w="12700" cap="flat" cmpd="sng" algn="ctr">
                      <a:solidFill>
                        <a:srgbClr val="E7D6D1"/>
                      </a:solidFill>
                      <a:prstDash val="solid"/>
                      <a:round/>
                      <a:headEnd type="none" w="med" len="med"/>
                      <a:tailEnd type="none" w="med" len="med"/>
                    </a:lnB>
                    <a:solidFill>
                      <a:srgbClr val="FFFFFF"/>
                    </a:solidFill>
                  </a:tcPr>
                </a:tc>
              </a:tr>
            </a:tbl>
          </a:graphicData>
        </a:graphic>
      </p:graphicFrame>
      <p:sp>
        <p:nvSpPr>
          <p:cNvPr id="5" name="Shape 2"/>
          <p:cNvSpPr/>
          <p:nvPr/>
        </p:nvSpPr>
        <p:spPr>
          <a:xfrm>
            <a:off x="7772400" y="1645920"/>
            <a:ext cx="3886200" cy="1828800"/>
          </a:xfrm>
          <a:prstGeom prst="roundRect">
            <a:avLst>
              <a:gd name="adj" fmla="val 4500"/>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6" name="Text 3"/>
          <p:cNvSpPr/>
          <p:nvPr/>
        </p:nvSpPr>
        <p:spPr>
          <a:xfrm>
            <a:off x="7955280" y="1783080"/>
            <a:ext cx="3474720" cy="320040"/>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What is k-NN?</a:t>
            </a:r>
            <a:endParaRPr lang="en-US" sz="1400" dirty="0"/>
          </a:p>
        </p:txBody>
      </p:sp>
      <p:sp>
        <p:nvSpPr>
          <p:cNvPr id="7" name="Text 4"/>
          <p:cNvSpPr/>
          <p:nvPr/>
        </p:nvSpPr>
        <p:spPr>
          <a:xfrm>
            <a:off x="7955280" y="2148840"/>
            <a:ext cx="3520440" cy="1280160"/>
          </a:xfrm>
          <a:prstGeom prst="rect">
            <a:avLst/>
          </a:prstGeom>
          <a:noFill/>
          <a:ln/>
        </p:spPr>
        <p:txBody>
          <a:bodyPr wrap="square" lIns="0" tIns="0" rIns="0" bIns="0" rtlCol="0" anchor="t"/>
          <a:lstStyle/>
          <a:p>
            <a:pPr indent="0" marL="0">
              <a:buNone/>
            </a:pPr>
            <a:r>
              <a:rPr lang="en-US" sz="1150" dirty="0">
                <a:solidFill>
                  <a:srgbClr val="2A1618"/>
                </a:solidFill>
                <a:latin typeface="Calibri" pitchFamily="34" charset="0"/>
                <a:ea typeface="Calibri" pitchFamily="34" charset="-122"/>
                <a:cs typeface="Calibri" pitchFamily="34" charset="-120"/>
              </a:rPr>
              <a:t>A training-free baseline: to locate a held-out spot it just averages the (x,y) of the most similar measured signals. Nothing is fit, so it measures how well the SIGNAL alone pins down location, a floor any trained model should beat.</a:t>
            </a:r>
            <a:endParaRPr lang="en-US" sz="1150" dirty="0"/>
          </a:p>
        </p:txBody>
      </p:sp>
      <p:sp>
        <p:nvSpPr>
          <p:cNvPr id="8" name="Shape 5"/>
          <p:cNvSpPr/>
          <p:nvPr/>
        </p:nvSpPr>
        <p:spPr>
          <a:xfrm>
            <a:off x="7772400" y="3611880"/>
            <a:ext cx="3886200" cy="2514600"/>
          </a:xfrm>
          <a:prstGeom prst="roundRect">
            <a:avLst>
              <a:gd name="adj" fmla="val 3273"/>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9" name="Text 6"/>
          <p:cNvSpPr/>
          <p:nvPr/>
        </p:nvSpPr>
        <p:spPr>
          <a:xfrm>
            <a:off x="7955280" y="3749040"/>
            <a:ext cx="3474720" cy="320040"/>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What the numbers mean</a:t>
            </a:r>
            <a:endParaRPr lang="en-US" sz="1400" dirty="0"/>
          </a:p>
        </p:txBody>
      </p:sp>
      <p:sp>
        <p:nvSpPr>
          <p:cNvPr id="10" name="Text 7"/>
          <p:cNvSpPr/>
          <p:nvPr/>
        </p:nvSpPr>
        <p:spPr>
          <a:xfrm>
            <a:off x="7955280" y="4114800"/>
            <a:ext cx="3520440" cy="192024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2A1618"/>
                </a:solidFill>
                <a:latin typeface="Calibri" pitchFamily="34" charset="0"/>
                <a:ea typeface="Calibri" pitchFamily="34" charset="-122"/>
                <a:cs typeface="Calibri" pitchFamily="34" charset="-120"/>
              </a:rPr>
              <a:t>Signal floor is the same: sim 6.7 vs measured 6.0 mm; the two agree closely.</a:t>
            </a:r>
            <a:endParaRPr lang="en-US" sz="1050" dirty="0"/>
          </a:p>
          <a:p>
            <a:pPr marL="342900" indent="-342900">
              <a:spcAft>
                <a:spcPts val="800"/>
              </a:spcAft>
              <a:buSzPct val="100000"/>
              <a:buChar char="•"/>
            </a:pPr>
            <a:r>
              <a:rPr lang="en-US" sz="1050" dirty="0">
                <a:solidFill>
                  <a:srgbClr val="2A1618"/>
                </a:solidFill>
                <a:latin typeface="Calibri" pitchFamily="34" charset="0"/>
                <a:ea typeface="Calibri" pitchFamily="34" charset="-122"/>
                <a:cs typeface="Calibri" pitchFamily="34" charset="-120"/>
              </a:rPr>
              <a:t>LOSO (3.9) sees a new session at KNOWN spots (easy); LOPO single-position (9.9) reaches an UNSEEN spot (hard, ~50 distinct positions).</a:t>
            </a:r>
            <a:endParaRPr lang="en-US" sz="1050" dirty="0"/>
          </a:p>
          <a:p>
            <a:pPr marL="342900" indent="-342900">
              <a:spcAft>
                <a:spcPts val="800"/>
              </a:spcAft>
              <a:buSzPct val="100000"/>
              <a:buChar char="•"/>
            </a:pPr>
            <a:r>
              <a:rPr lang="en-US" sz="1050" dirty="0">
                <a:solidFill>
                  <a:srgbClr val="2A1618"/>
                </a:solidFill>
                <a:latin typeface="Calibri" pitchFamily="34" charset="0"/>
                <a:ea typeface="Calibri" pitchFamily="34" charset="-122"/>
                <a:cs typeface="Calibri" pitchFamily="34" charset="-120"/>
              </a:rPr>
              <a:t>Sim hits 3.9 on unseen spots only via ~1000 distinct positions.</a:t>
            </a:r>
            <a:endParaRPr lang="en-US" sz="1050" dirty="0"/>
          </a:p>
        </p:txBody>
      </p:sp>
      <p:sp>
        <p:nvSpPr>
          <p:cNvPr id="11" name="Text 8"/>
          <p:cNvSpPr/>
          <p:nvPr/>
        </p:nvSpPr>
        <p:spPr>
          <a:xfrm>
            <a:off x="548640" y="6172200"/>
            <a:ext cx="7040880" cy="502920"/>
          </a:xfrm>
          <a:prstGeom prst="rect">
            <a:avLst/>
          </a:prstGeom>
          <a:noFill/>
          <a:ln/>
        </p:spPr>
        <p:txBody>
          <a:bodyPr wrap="square" lIns="0" tIns="0" rIns="0" bIns="0" rtlCol="0" anchor="ctr"/>
          <a:lstStyle/>
          <a:p>
            <a:pPr algn="l" indent="0" marL="0">
              <a:buNone/>
            </a:pPr>
            <a:r>
              <a:rPr lang="en-US" sz="1150" i="1" dirty="0">
                <a:solidFill>
                  <a:srgbClr val="836A68"/>
                </a:solidFill>
                <a:latin typeface="Calibri" pitchFamily="34" charset="0"/>
                <a:ea typeface="Calibri" pitchFamily="34" charset="-122"/>
                <a:cs typeface="Calibri" pitchFamily="34" charset="-120"/>
              </a:rPr>
              <a:t>The sim vs measured CNN gap is distinct-position COVERAGE, not fidelity. To match 3.9 mm on the bench: denser grid / more depths, not a better model.</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Test 1: zero-shot, train on sim only, test on the bench</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If the CNN sees only simulated tumors, can it locate a real one? Direct transfer collapses</a:t>
            </a:r>
            <a:endParaRPr lang="en-US" sz="1400" dirty="0"/>
          </a:p>
        </p:txBody>
      </p:sp>
      <p:pic>
        <p:nvPicPr>
          <p:cNvPr id="4" name="Image 0" descr="zero_shot_sim2meas.png">    </p:cNvPr>
          <p:cNvPicPr>
            <a:picLocks noChangeAspect="1"/>
          </p:cNvPicPr>
          <p:nvPr/>
        </p:nvPicPr>
        <p:blipFill>
          <a:blip r:embed="rId1"/>
          <a:stretch>
            <a:fillRect/>
          </a:stretch>
        </p:blipFill>
        <p:spPr>
          <a:xfrm>
            <a:off x="320040" y="1463040"/>
            <a:ext cx="8275320" cy="4434840"/>
          </a:xfrm>
          <a:prstGeom prst="rect">
            <a:avLst/>
          </a:prstGeom>
        </p:spPr>
      </p:pic>
      <p:sp>
        <p:nvSpPr>
          <p:cNvPr id="5" name="Shape 2"/>
          <p:cNvSpPr/>
          <p:nvPr/>
        </p:nvSpPr>
        <p:spPr>
          <a:xfrm>
            <a:off x="8732520" y="1554480"/>
            <a:ext cx="3108960" cy="4480560"/>
          </a:xfrm>
          <a:prstGeom prst="roundRect">
            <a:avLst>
              <a:gd name="adj" fmla="val 2647"/>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6" name="Text 3"/>
          <p:cNvSpPr/>
          <p:nvPr/>
        </p:nvSpPr>
        <p:spPr>
          <a:xfrm>
            <a:off x="8915400" y="1691640"/>
            <a:ext cx="2788920" cy="320040"/>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What this tests</a:t>
            </a:r>
            <a:endParaRPr lang="en-US" sz="1400" dirty="0"/>
          </a:p>
        </p:txBody>
      </p:sp>
      <p:sp>
        <p:nvSpPr>
          <p:cNvPr id="7" name="Text 4"/>
          <p:cNvSpPr/>
          <p:nvPr/>
        </p:nvSpPr>
        <p:spPr>
          <a:xfrm>
            <a:off x="8915400" y="2057400"/>
            <a:ext cx="2788920" cy="1371600"/>
          </a:xfrm>
          <a:prstGeom prst="rect">
            <a:avLst/>
          </a:prstGeom>
          <a:noFill/>
          <a:ln/>
        </p:spPr>
        <p:txBody>
          <a:bodyPr wrap="square" lIns="0" tIns="0" rIns="0" bIns="0" rtlCol="0" anchor="t"/>
          <a:lstStyle/>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Train a CNN on simulated tumor dS only; no measured data is seen in training.</a:t>
            </a:r>
            <a:endParaRPr lang="en-US" sz="1030" dirty="0"/>
          </a:p>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Then hand it the measured S-parameters and ask for (x,y).</a:t>
            </a:r>
            <a:endParaRPr lang="en-US" sz="1030" dirty="0"/>
          </a:p>
        </p:txBody>
      </p:sp>
      <p:sp>
        <p:nvSpPr>
          <p:cNvPr id="8" name="Text 5"/>
          <p:cNvSpPr/>
          <p:nvPr/>
        </p:nvSpPr>
        <p:spPr>
          <a:xfrm>
            <a:off x="8915400" y="3611880"/>
            <a:ext cx="2788920" cy="320040"/>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The result</a:t>
            </a:r>
            <a:endParaRPr lang="en-US" sz="1400" dirty="0"/>
          </a:p>
        </p:txBody>
      </p:sp>
      <p:sp>
        <p:nvSpPr>
          <p:cNvPr id="9" name="Text 6"/>
          <p:cNvSpPr/>
          <p:nvPr/>
        </p:nvSpPr>
        <p:spPr>
          <a:xfrm>
            <a:off x="8915400" y="3977640"/>
            <a:ext cx="2788920" cy="1965960"/>
          </a:xfrm>
          <a:prstGeom prst="rect">
            <a:avLst/>
          </a:prstGeom>
          <a:noFill/>
          <a:ln/>
        </p:spPr>
        <p:txBody>
          <a:bodyPr wrap="square" lIns="0" tIns="0" rIns="0" bIns="0" rtlCol="0" anchor="t"/>
          <a:lstStyle/>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In-domain (held-out sim) it localizes to 15 mm, so the pipeline works.</a:t>
            </a:r>
            <a:endParaRPr lang="en-US" sz="1030" dirty="0"/>
          </a:p>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On the bench it hits 43 mm, worse than the 34 mm predict-centre chance line (median of 5 seeds).</a:t>
            </a:r>
            <a:endParaRPr lang="en-US" sz="1030" dirty="0"/>
          </a:p>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Predictions collapse to one biased region: the measured signal is out-of-distribution for a sim-only model.</a:t>
            </a:r>
            <a:endParaRPr lang="en-US" sz="1030" dirty="0"/>
          </a:p>
        </p:txBody>
      </p:sp>
      <p:sp>
        <p:nvSpPr>
          <p:cNvPr id="10" name="Text 7"/>
          <p:cNvSpPr/>
          <p:nvPr/>
        </p:nvSpPr>
        <p:spPr>
          <a:xfrm>
            <a:off x="320040" y="6035040"/>
            <a:ext cx="8275320" cy="502920"/>
          </a:xfrm>
          <a:prstGeom prst="rect">
            <a:avLst/>
          </a:prstGeom>
          <a:noFill/>
          <a:ln/>
        </p:spPr>
        <p:txBody>
          <a:bodyPr wrap="square" lIns="0" tIns="0" rIns="0" bIns="0" rtlCol="0" anchor="ctr"/>
          <a:lstStyle/>
          <a:p>
            <a:pPr algn="ctr" indent="0" marL="0">
              <a:buNone/>
            </a:pPr>
            <a:r>
              <a:rPr lang="en-US" sz="1200" i="1" dirty="0">
                <a:solidFill>
                  <a:srgbClr val="836A68"/>
                </a:solidFill>
                <a:latin typeface="Calibri" pitchFamily="34" charset="0"/>
                <a:ea typeface="Calibri" pitchFamily="34" charset="-122"/>
                <a:cs typeface="Calibri" pitchFamily="34" charset="-120"/>
              </a:rPr>
              <a:t>The antenna domain gap breaks direct transfer. The sim signal must be calibrated toward the bench first (next slides).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How the sim to measured map is learned</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A linear transfer fit on the empty baseline and tested on frequencies it never saw</a:t>
            </a:r>
            <a:endParaRPr lang="en-US" sz="1400" dirty="0"/>
          </a:p>
        </p:txBody>
      </p:sp>
      <p:sp>
        <p:nvSpPr>
          <p:cNvPr id="4" name="Shape 2"/>
          <p:cNvSpPr/>
          <p:nvPr/>
        </p:nvSpPr>
        <p:spPr>
          <a:xfrm>
            <a:off x="548640" y="1554480"/>
            <a:ext cx="7040880" cy="822960"/>
          </a:xfrm>
          <a:prstGeom prst="roundRect">
            <a:avLst>
              <a:gd name="adj" fmla="val 10000"/>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5" name="Shape 3"/>
          <p:cNvSpPr/>
          <p:nvPr/>
        </p:nvSpPr>
        <p:spPr>
          <a:xfrm>
            <a:off x="749808" y="1737360"/>
            <a:ext cx="457200" cy="457200"/>
          </a:xfrm>
          <a:prstGeom prst="ellipse">
            <a:avLst/>
          </a:prstGeom>
          <a:solidFill>
            <a:srgbClr val="BE0000"/>
          </a:solidFill>
          <a:ln/>
        </p:spPr>
      </p:sp>
      <p:sp>
        <p:nvSpPr>
          <p:cNvPr id="6" name="Text 4"/>
          <p:cNvSpPr/>
          <p:nvPr/>
        </p:nvSpPr>
        <p:spPr>
          <a:xfrm>
            <a:off x="749808" y="17373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371600" y="1609344"/>
            <a:ext cx="2286000" cy="713232"/>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Pair the empty baselines</a:t>
            </a:r>
            <a:endParaRPr lang="en-US" sz="1400" dirty="0"/>
          </a:p>
        </p:txBody>
      </p:sp>
      <p:sp>
        <p:nvSpPr>
          <p:cNvPr id="8" name="Text 6"/>
          <p:cNvSpPr/>
          <p:nvPr/>
        </p:nvSpPr>
        <p:spPr>
          <a:xfrm>
            <a:off x="3703320" y="1591056"/>
            <a:ext cx="3794760" cy="749808"/>
          </a:xfrm>
          <a:prstGeom prst="rect">
            <a:avLst/>
          </a:prstGeom>
          <a:noFill/>
          <a:ln/>
        </p:spPr>
        <p:txBody>
          <a:bodyPr wrap="square" lIns="0" tIns="0" rIns="0" bIns="0" rtlCol="0" anchor="ctr"/>
          <a:lstStyle/>
          <a:p>
            <a:pPr indent="0" marL="0">
              <a:buNone/>
            </a:pPr>
            <a:r>
              <a:rPr lang="en-US" sz="1070" dirty="0">
                <a:solidFill>
                  <a:srgbClr val="2A1618"/>
                </a:solidFill>
                <a:latin typeface="Calibri" pitchFamily="34" charset="0"/>
                <a:ea typeface="Calibri" pitchFamily="34" charset="-122"/>
                <a:cs typeface="Calibri" pitchFamily="34" charset="-120"/>
              </a:rPr>
              <a:t>Sim empty phantom and measured empty phantom are the same physical state (no tumor), so their S-parameters can be matched frequency by frequency.</a:t>
            </a:r>
            <a:endParaRPr lang="en-US" sz="1070" dirty="0"/>
          </a:p>
        </p:txBody>
      </p:sp>
      <p:sp>
        <p:nvSpPr>
          <p:cNvPr id="9" name="Shape 7"/>
          <p:cNvSpPr/>
          <p:nvPr/>
        </p:nvSpPr>
        <p:spPr>
          <a:xfrm>
            <a:off x="548640" y="2487168"/>
            <a:ext cx="7040880" cy="822960"/>
          </a:xfrm>
          <a:prstGeom prst="roundRect">
            <a:avLst>
              <a:gd name="adj" fmla="val 10000"/>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10" name="Shape 8"/>
          <p:cNvSpPr/>
          <p:nvPr/>
        </p:nvSpPr>
        <p:spPr>
          <a:xfrm>
            <a:off x="749808" y="2670048"/>
            <a:ext cx="457200" cy="457200"/>
          </a:xfrm>
          <a:prstGeom prst="ellipse">
            <a:avLst/>
          </a:prstGeom>
          <a:solidFill>
            <a:srgbClr val="BE0000"/>
          </a:solidFill>
          <a:ln/>
        </p:spPr>
      </p:sp>
      <p:sp>
        <p:nvSpPr>
          <p:cNvPr id="11" name="Text 9"/>
          <p:cNvSpPr/>
          <p:nvPr/>
        </p:nvSpPr>
        <p:spPr>
          <a:xfrm>
            <a:off x="749808" y="26700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371600" y="2542032"/>
            <a:ext cx="2286000" cy="713232"/>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One vector per frequency</a:t>
            </a:r>
            <a:endParaRPr lang="en-US" sz="1400" dirty="0"/>
          </a:p>
        </p:txBody>
      </p:sp>
      <p:sp>
        <p:nvSpPr>
          <p:cNvPr id="13" name="Text 11"/>
          <p:cNvSpPr/>
          <p:nvPr/>
        </p:nvSpPr>
        <p:spPr>
          <a:xfrm>
            <a:off x="3703320" y="2523744"/>
            <a:ext cx="3794760" cy="749808"/>
          </a:xfrm>
          <a:prstGeom prst="rect">
            <a:avLst/>
          </a:prstGeom>
          <a:noFill/>
          <a:ln/>
        </p:spPr>
        <p:txBody>
          <a:bodyPr wrap="square" lIns="0" tIns="0" rIns="0" bIns="0" rtlCol="0" anchor="ctr"/>
          <a:lstStyle/>
          <a:p>
            <a:pPr indent="0" marL="0">
              <a:buNone/>
            </a:pPr>
            <a:r>
              <a:rPr lang="en-US" sz="1070" dirty="0">
                <a:solidFill>
                  <a:srgbClr val="2A1618"/>
                </a:solidFill>
                <a:latin typeface="Calibri" pitchFamily="34" charset="0"/>
                <a:ea typeface="Calibri" pitchFamily="34" charset="-122"/>
                <a:cs typeface="Calibri" pitchFamily="34" charset="-120"/>
              </a:rPr>
              <a:t>At each of 512 frequencies (2 to 8 GHz), stack the real and imaginary parts of the 16 S-parameters into a 32-D vector. Sim = input x, measured = target y.</a:t>
            </a:r>
            <a:endParaRPr lang="en-US" sz="1070" dirty="0"/>
          </a:p>
        </p:txBody>
      </p:sp>
      <p:sp>
        <p:nvSpPr>
          <p:cNvPr id="14" name="Shape 12"/>
          <p:cNvSpPr/>
          <p:nvPr/>
        </p:nvSpPr>
        <p:spPr>
          <a:xfrm>
            <a:off x="548640" y="3419856"/>
            <a:ext cx="7040880" cy="822960"/>
          </a:xfrm>
          <a:prstGeom prst="roundRect">
            <a:avLst>
              <a:gd name="adj" fmla="val 10000"/>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15" name="Shape 13"/>
          <p:cNvSpPr/>
          <p:nvPr/>
        </p:nvSpPr>
        <p:spPr>
          <a:xfrm>
            <a:off x="749808" y="3602736"/>
            <a:ext cx="457200" cy="457200"/>
          </a:xfrm>
          <a:prstGeom prst="ellipse">
            <a:avLst/>
          </a:prstGeom>
          <a:solidFill>
            <a:srgbClr val="BE0000"/>
          </a:solidFill>
          <a:ln/>
        </p:spPr>
      </p:sp>
      <p:sp>
        <p:nvSpPr>
          <p:cNvPr id="16" name="Text 14"/>
          <p:cNvSpPr/>
          <p:nvPr/>
        </p:nvSpPr>
        <p:spPr>
          <a:xfrm>
            <a:off x="749808" y="36027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371600" y="3474720"/>
            <a:ext cx="2286000" cy="713232"/>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Split the frequencies 70 / 30</a:t>
            </a:r>
            <a:endParaRPr lang="en-US" sz="1400" dirty="0"/>
          </a:p>
        </p:txBody>
      </p:sp>
      <p:sp>
        <p:nvSpPr>
          <p:cNvPr id="18" name="Text 16"/>
          <p:cNvSpPr/>
          <p:nvPr/>
        </p:nvSpPr>
        <p:spPr>
          <a:xfrm>
            <a:off x="3703320" y="3456432"/>
            <a:ext cx="3794760" cy="749808"/>
          </a:xfrm>
          <a:prstGeom prst="rect">
            <a:avLst/>
          </a:prstGeom>
          <a:noFill/>
          <a:ln/>
        </p:spPr>
        <p:txBody>
          <a:bodyPr wrap="square" lIns="0" tIns="0" rIns="0" bIns="0" rtlCol="0" anchor="ctr"/>
          <a:lstStyle/>
          <a:p>
            <a:pPr indent="0" marL="0">
              <a:buNone/>
            </a:pPr>
            <a:r>
              <a:rPr lang="en-US" sz="1070" dirty="0">
                <a:solidFill>
                  <a:srgbClr val="2A1618"/>
                </a:solidFill>
                <a:latin typeface="Calibri" pitchFamily="34" charset="0"/>
                <a:ea typeface="Calibri" pitchFamily="34" charset="-122"/>
                <a:cs typeface="Calibri" pitchFamily="34" charset="-120"/>
              </a:rPr>
              <a:t>Fit on 70% of the frequencies; hold out the other 30% for testing. The map never sees the test frequencies while it is being fit.</a:t>
            </a:r>
            <a:endParaRPr lang="en-US" sz="1070" dirty="0"/>
          </a:p>
        </p:txBody>
      </p:sp>
      <p:sp>
        <p:nvSpPr>
          <p:cNvPr id="19" name="Shape 17"/>
          <p:cNvSpPr/>
          <p:nvPr/>
        </p:nvSpPr>
        <p:spPr>
          <a:xfrm>
            <a:off x="548640" y="4352544"/>
            <a:ext cx="7040880" cy="822960"/>
          </a:xfrm>
          <a:prstGeom prst="roundRect">
            <a:avLst>
              <a:gd name="adj" fmla="val 10000"/>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20" name="Shape 18"/>
          <p:cNvSpPr/>
          <p:nvPr/>
        </p:nvSpPr>
        <p:spPr>
          <a:xfrm>
            <a:off x="749808" y="4535424"/>
            <a:ext cx="457200" cy="457200"/>
          </a:xfrm>
          <a:prstGeom prst="ellipse">
            <a:avLst/>
          </a:prstGeom>
          <a:solidFill>
            <a:srgbClr val="BE0000"/>
          </a:solidFill>
          <a:ln/>
        </p:spPr>
      </p:sp>
      <p:sp>
        <p:nvSpPr>
          <p:cNvPr id="21" name="Text 19"/>
          <p:cNvSpPr/>
          <p:nvPr/>
        </p:nvSpPr>
        <p:spPr>
          <a:xfrm>
            <a:off x="749808" y="45354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p:nvPr/>
        </p:nvSpPr>
        <p:spPr>
          <a:xfrm>
            <a:off x="1371600" y="4407408"/>
            <a:ext cx="2286000" cy="713232"/>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Fit the linear map</a:t>
            </a:r>
            <a:endParaRPr lang="en-US" sz="1400" dirty="0"/>
          </a:p>
        </p:txBody>
      </p:sp>
      <p:sp>
        <p:nvSpPr>
          <p:cNvPr id="23" name="Text 21"/>
          <p:cNvSpPr/>
          <p:nvPr/>
        </p:nvSpPr>
        <p:spPr>
          <a:xfrm>
            <a:off x="3703320" y="4389120"/>
            <a:ext cx="3794760" cy="749808"/>
          </a:xfrm>
          <a:prstGeom prst="rect">
            <a:avLst/>
          </a:prstGeom>
          <a:noFill/>
          <a:ln/>
        </p:spPr>
        <p:txBody>
          <a:bodyPr wrap="square" lIns="0" tIns="0" rIns="0" bIns="0" rtlCol="0" anchor="ctr"/>
          <a:lstStyle/>
          <a:p>
            <a:pPr indent="0" marL="0">
              <a:buNone/>
            </a:pPr>
            <a:r>
              <a:rPr lang="en-US" sz="1070" dirty="0">
                <a:solidFill>
                  <a:srgbClr val="2A1618"/>
                </a:solidFill>
                <a:latin typeface="Calibri" pitchFamily="34" charset="0"/>
                <a:ea typeface="Calibri" pitchFamily="34" charset="-122"/>
                <a:cs typeface="Calibri" pitchFamily="34" charset="-120"/>
              </a:rPr>
              <a:t>Ridge (L2) regression learns a 32x32 matrix W and offset b that best convert the sim vector into the measured vector.</a:t>
            </a:r>
            <a:endParaRPr lang="en-US" sz="1070" dirty="0"/>
          </a:p>
        </p:txBody>
      </p:sp>
      <p:sp>
        <p:nvSpPr>
          <p:cNvPr id="24" name="Shape 22"/>
          <p:cNvSpPr/>
          <p:nvPr/>
        </p:nvSpPr>
        <p:spPr>
          <a:xfrm>
            <a:off x="548640" y="5285232"/>
            <a:ext cx="7040880" cy="822960"/>
          </a:xfrm>
          <a:prstGeom prst="roundRect">
            <a:avLst>
              <a:gd name="adj" fmla="val 10000"/>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25" name="Shape 23"/>
          <p:cNvSpPr/>
          <p:nvPr/>
        </p:nvSpPr>
        <p:spPr>
          <a:xfrm>
            <a:off x="749808" y="5468112"/>
            <a:ext cx="457200" cy="457200"/>
          </a:xfrm>
          <a:prstGeom prst="ellipse">
            <a:avLst/>
          </a:prstGeom>
          <a:solidFill>
            <a:srgbClr val="BE0000"/>
          </a:solidFill>
          <a:ln/>
        </p:spPr>
      </p:sp>
      <p:sp>
        <p:nvSpPr>
          <p:cNvPr id="26" name="Text 24"/>
          <p:cNvSpPr/>
          <p:nvPr/>
        </p:nvSpPr>
        <p:spPr>
          <a:xfrm>
            <a:off x="749808" y="54681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7" name="Text 25"/>
          <p:cNvSpPr/>
          <p:nvPr/>
        </p:nvSpPr>
        <p:spPr>
          <a:xfrm>
            <a:off x="1371600" y="5340096"/>
            <a:ext cx="2286000" cy="713232"/>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Test on the held-out 30%</a:t>
            </a:r>
            <a:endParaRPr lang="en-US" sz="1400" dirty="0"/>
          </a:p>
        </p:txBody>
      </p:sp>
      <p:sp>
        <p:nvSpPr>
          <p:cNvPr id="28" name="Text 26"/>
          <p:cNvSpPr/>
          <p:nvPr/>
        </p:nvSpPr>
        <p:spPr>
          <a:xfrm>
            <a:off x="3703320" y="5321808"/>
            <a:ext cx="3794760" cy="749808"/>
          </a:xfrm>
          <a:prstGeom prst="rect">
            <a:avLst/>
          </a:prstGeom>
          <a:noFill/>
          <a:ln/>
        </p:spPr>
        <p:txBody>
          <a:bodyPr wrap="square" lIns="0" tIns="0" rIns="0" bIns="0" rtlCol="0" anchor="ctr"/>
          <a:lstStyle/>
          <a:p>
            <a:pPr indent="0" marL="0">
              <a:buNone/>
            </a:pPr>
            <a:r>
              <a:rPr lang="en-US" sz="1070" dirty="0">
                <a:solidFill>
                  <a:srgbClr val="2A1618"/>
                </a:solidFill>
                <a:latin typeface="Calibri" pitchFamily="34" charset="0"/>
                <a:ea typeface="Calibri" pitchFamily="34" charset="-122"/>
                <a:cs typeface="Calibri" pitchFamily="34" charset="-120"/>
              </a:rPr>
              <a:t>Apply W and b to the unseen frequencies and compare to the true measured values, giving R2 = 0.65.</a:t>
            </a:r>
            <a:endParaRPr lang="en-US" sz="1070" dirty="0"/>
          </a:p>
        </p:txBody>
      </p:sp>
      <p:sp>
        <p:nvSpPr>
          <p:cNvPr id="29" name="Shape 27"/>
          <p:cNvSpPr/>
          <p:nvPr/>
        </p:nvSpPr>
        <p:spPr>
          <a:xfrm>
            <a:off x="7772400" y="1554480"/>
            <a:ext cx="3886200" cy="1600200"/>
          </a:xfrm>
          <a:prstGeom prst="roundRect">
            <a:avLst>
              <a:gd name="adj" fmla="val 5143"/>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30" name="Text 28"/>
          <p:cNvSpPr/>
          <p:nvPr/>
        </p:nvSpPr>
        <p:spPr>
          <a:xfrm>
            <a:off x="7955280" y="1691640"/>
            <a:ext cx="3474720" cy="320040"/>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The equation</a:t>
            </a:r>
            <a:endParaRPr lang="en-US" sz="1400" dirty="0"/>
          </a:p>
        </p:txBody>
      </p:sp>
      <p:sp>
        <p:nvSpPr>
          <p:cNvPr id="31" name="Text 29"/>
          <p:cNvSpPr/>
          <p:nvPr/>
        </p:nvSpPr>
        <p:spPr>
          <a:xfrm>
            <a:off x="7955280" y="2011680"/>
            <a:ext cx="3520440" cy="457200"/>
          </a:xfrm>
          <a:prstGeom prst="rect">
            <a:avLst/>
          </a:prstGeom>
          <a:noFill/>
          <a:ln/>
        </p:spPr>
        <p:txBody>
          <a:bodyPr wrap="square" lIns="0" tIns="0" rIns="0" bIns="0" rtlCol="0" anchor="ctr"/>
          <a:lstStyle/>
          <a:p>
            <a:pPr algn="ctr" indent="0" marL="0">
              <a:buNone/>
            </a:pPr>
            <a:r>
              <a:rPr lang="en-US" sz="2200" b="1" dirty="0">
                <a:solidFill>
                  <a:srgbClr val="2A1618"/>
                </a:solidFill>
                <a:latin typeface="Cambria" pitchFamily="34" charset="0"/>
                <a:ea typeface="Cambria" pitchFamily="34" charset="-122"/>
                <a:cs typeface="Cambria" pitchFamily="34" charset="-120"/>
              </a:rPr>
              <a:t>y = W x + b</a:t>
            </a:r>
            <a:endParaRPr lang="en-US" sz="2200" dirty="0"/>
          </a:p>
        </p:txBody>
      </p:sp>
      <p:sp>
        <p:nvSpPr>
          <p:cNvPr id="32" name="Text 30"/>
          <p:cNvSpPr/>
          <p:nvPr/>
        </p:nvSpPr>
        <p:spPr>
          <a:xfrm>
            <a:off x="7955280" y="2514600"/>
            <a:ext cx="3520440" cy="548640"/>
          </a:xfrm>
          <a:prstGeom prst="rect">
            <a:avLst/>
          </a:prstGeom>
          <a:noFill/>
          <a:ln/>
        </p:spPr>
        <p:txBody>
          <a:bodyPr wrap="square" lIns="0" tIns="0" rIns="0" bIns="0" rtlCol="0" anchor="t"/>
          <a:lstStyle/>
          <a:p>
            <a:pPr indent="0" marL="0">
              <a:buNone/>
            </a:pPr>
            <a:r>
              <a:rPr lang="en-US" sz="1000" dirty="0">
                <a:solidFill>
                  <a:srgbClr val="836A68"/>
                </a:solidFill>
                <a:latin typeface="Calibri" pitchFamily="34" charset="0"/>
                <a:ea typeface="Calibri" pitchFamily="34" charset="-122"/>
                <a:cs typeface="Calibri" pitchFamily="34" charset="-120"/>
              </a:rPr>
              <a:t>x = sim [Re, Im of 16 S-params] (32-D); y = predicted measured; W (32x32) and b learned on the train frequencies.</a:t>
            </a:r>
            <a:endParaRPr lang="en-US" sz="1000" dirty="0"/>
          </a:p>
        </p:txBody>
      </p:sp>
      <p:sp>
        <p:nvSpPr>
          <p:cNvPr id="33" name="Shape 31"/>
          <p:cNvSpPr/>
          <p:nvPr/>
        </p:nvSpPr>
        <p:spPr>
          <a:xfrm>
            <a:off x="7772400" y="3291840"/>
            <a:ext cx="3886200" cy="2971800"/>
          </a:xfrm>
          <a:prstGeom prst="roundRect">
            <a:avLst>
              <a:gd name="adj" fmla="val 2769"/>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34" name="Text 32"/>
          <p:cNvSpPr/>
          <p:nvPr/>
        </p:nvSpPr>
        <p:spPr>
          <a:xfrm>
            <a:off x="7955280" y="3429000"/>
            <a:ext cx="3566160" cy="365760"/>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Why R2 = 0.65 is meaningful</a:t>
            </a:r>
            <a:endParaRPr lang="en-US" sz="1400" dirty="0"/>
          </a:p>
        </p:txBody>
      </p:sp>
      <p:sp>
        <p:nvSpPr>
          <p:cNvPr id="35" name="Text 33"/>
          <p:cNvSpPr/>
          <p:nvPr/>
        </p:nvSpPr>
        <p:spPr>
          <a:xfrm>
            <a:off x="7955280" y="3840480"/>
            <a:ext cx="3566160" cy="2331720"/>
          </a:xfrm>
          <a:prstGeom prst="rect">
            <a:avLst/>
          </a:prstGeom>
          <a:noFill/>
          <a:ln/>
        </p:spPr>
        <p:txBody>
          <a:bodyPr wrap="square" lIns="0" tIns="0" rIns="0" bIns="0" rtlCol="0" anchor="t"/>
          <a:lstStyle/>
          <a:p>
            <a:pPr indent="0" marL="0">
              <a:spcAft>
                <a:spcPts val="900"/>
              </a:spcAft>
              <a:buNone/>
            </a:pPr>
            <a:r>
              <a:rPr lang="en-US" sz="1100" dirty="0">
                <a:solidFill>
                  <a:srgbClr val="2A1618"/>
                </a:solidFill>
                <a:latin typeface="Calibri" pitchFamily="34" charset="0"/>
                <a:ea typeface="Calibri" pitchFamily="34" charset="-122"/>
                <a:cs typeface="Calibri" pitchFamily="34" charset="-120"/>
              </a:rPr>
              <a:t>R2 is computed only on frequencies the map never used while fitting, so it measures genuine generalization, not curve-fitting.</a:t>
            </a:r>
            <a:endParaRPr lang="en-US" sz="1100" dirty="0"/>
          </a:p>
          <a:p>
            <a:pPr indent="0" marL="0">
              <a:spcAft>
                <a:spcPts val="900"/>
              </a:spcAft>
              <a:buNone/>
            </a:pPr>
            <a:r>
              <a:rPr lang="en-US" sz="1100" dirty="0">
                <a:solidFill>
                  <a:srgbClr val="2A1618"/>
                </a:solidFill>
                <a:latin typeface="Calibri" pitchFamily="34" charset="0"/>
                <a:ea typeface="Calibri" pitchFamily="34" charset="-122"/>
                <a:cs typeface="Calibri" pitchFamily="34" charset="-120"/>
              </a:rPr>
              <a:t>A model that merely memorized the training frequencies would score near 0 on the held-out set. The flexible MLP did exactly that (R2 &lt; 0).</a:t>
            </a:r>
            <a:endParaRPr lang="en-US" sz="1100" dirty="0"/>
          </a:p>
          <a:p>
            <a:pPr indent="0" marL="0">
              <a:buNone/>
            </a:pPr>
            <a:r>
              <a:rPr lang="en-US" sz="1100" dirty="0">
                <a:solidFill>
                  <a:srgbClr val="2A1618"/>
                </a:solidFill>
                <a:latin typeface="Calibri" pitchFamily="34" charset="0"/>
                <a:ea typeface="Calibri" pitchFamily="34" charset="-122"/>
                <a:cs typeface="Calibri" pitchFamily="34" charset="-120"/>
              </a:rPr>
              <a:t>So R2 = 0.65 says a fixed linear transform already recovers most of the measured signal from the sim, on data it has not seen.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Can a model bridge the gap? (exploratory)</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The learned map applied to one port, and its accuracy on unseen frequencies</a:t>
            </a:r>
            <a:endParaRPr lang="en-US" sz="1400" dirty="0"/>
          </a:p>
        </p:txBody>
      </p:sp>
      <p:pic>
        <p:nvPicPr>
          <p:cNvPr id="4" name="Image 0" descr="sim_meas_correlation.png">    </p:cNvPr>
          <p:cNvPicPr>
            <a:picLocks noChangeAspect="1"/>
          </p:cNvPicPr>
          <p:nvPr/>
        </p:nvPicPr>
        <p:blipFill>
          <a:blip r:embed="rId1"/>
          <a:stretch>
            <a:fillRect/>
          </a:stretch>
        </p:blipFill>
        <p:spPr>
          <a:xfrm>
            <a:off x="457200" y="1737360"/>
            <a:ext cx="7772400" cy="3154680"/>
          </a:xfrm>
          <a:prstGeom prst="rect">
            <a:avLst/>
          </a:prstGeom>
        </p:spPr>
      </p:pic>
      <p:sp>
        <p:nvSpPr>
          <p:cNvPr id="5" name="Shape 2"/>
          <p:cNvSpPr/>
          <p:nvPr/>
        </p:nvSpPr>
        <p:spPr>
          <a:xfrm>
            <a:off x="8412480" y="1645920"/>
            <a:ext cx="3246120" cy="3794760"/>
          </a:xfrm>
          <a:prstGeom prst="roundRect">
            <a:avLst>
              <a:gd name="adj" fmla="val 2535"/>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6" name="Text 3"/>
          <p:cNvSpPr/>
          <p:nvPr/>
        </p:nvSpPr>
        <p:spPr>
          <a:xfrm>
            <a:off x="8595360" y="1783080"/>
            <a:ext cx="2926080" cy="365760"/>
          </a:xfrm>
          <a:prstGeom prst="rect">
            <a:avLst/>
          </a:prstGeom>
          <a:noFill/>
          <a:ln/>
        </p:spPr>
        <p:txBody>
          <a:bodyPr wrap="square" lIns="0" tIns="0" rIns="0" bIns="0" rtlCol="0" anchor="ctr"/>
          <a:lstStyle/>
          <a:p>
            <a:pPr indent="0" marL="0">
              <a:buNone/>
            </a:pPr>
            <a:r>
              <a:rPr lang="en-US" sz="1500" b="1" dirty="0">
                <a:solidFill>
                  <a:srgbClr val="BE0000"/>
                </a:solidFill>
                <a:latin typeface="Cambria" pitchFamily="34" charset="0"/>
                <a:ea typeface="Cambria" pitchFamily="34" charset="-122"/>
                <a:cs typeface="Cambria" pitchFamily="34" charset="-120"/>
              </a:rPr>
              <a:t>How to read it</a:t>
            </a:r>
            <a:endParaRPr lang="en-US" sz="1500" dirty="0"/>
          </a:p>
        </p:txBody>
      </p:sp>
      <p:sp>
        <p:nvSpPr>
          <p:cNvPr id="7" name="Text 4"/>
          <p:cNvSpPr/>
          <p:nvPr/>
        </p:nvSpPr>
        <p:spPr>
          <a:xfrm>
            <a:off x="8595360" y="2194560"/>
            <a:ext cx="2971800" cy="310896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2A1618"/>
                </a:solidFill>
                <a:latin typeface="Calibri" pitchFamily="34" charset="0"/>
                <a:ea typeface="Calibri" pitchFamily="34" charset="-122"/>
                <a:cs typeface="Calibri" pitchFamily="34" charset="-120"/>
              </a:rPr>
              <a:t>Left: the dashed line is the simulated S11 after the map (W x_sim + b). A perfect map would land on the measured (red) curve; it moves toward it but does not fully match.</a:t>
            </a:r>
            <a:endParaRPr lang="en-US" sz="1050" dirty="0"/>
          </a:p>
          <a:p>
            <a:pPr marL="342900" indent="-342900">
              <a:spcAft>
                <a:spcPts val="800"/>
              </a:spcAft>
              <a:buSzPct val="100000"/>
              <a:buChar char="•"/>
            </a:pPr>
            <a:r>
              <a:rPr lang="en-US" sz="1050" dirty="0">
                <a:solidFill>
                  <a:srgbClr val="2A1618"/>
                </a:solidFill>
                <a:latin typeface="Calibri" pitchFamily="34" charset="0"/>
                <a:ea typeface="Calibri" pitchFamily="34" charset="-122"/>
                <a:cs typeface="Calibri" pitchFamily="34" charset="-120"/>
              </a:rPr>
              <a:t>Right: predicted vs measured on the held-out frequencies. Points on the diagonal are exact; the R2 = 0.65 spread shows the map captures most, not all, of the relationship.</a:t>
            </a:r>
            <a:endParaRPr lang="en-US" sz="1050" dirty="0"/>
          </a:p>
          <a:p>
            <a:pPr marL="342900" indent="-342900">
              <a:spcAft>
                <a:spcPts val="800"/>
              </a:spcAft>
              <a:buSzPct val="100000"/>
              <a:buChar char="•"/>
            </a:pPr>
            <a:r>
              <a:rPr lang="en-US" sz="1050" dirty="0">
                <a:solidFill>
                  <a:srgbClr val="2A1618"/>
                </a:solidFill>
                <a:latin typeface="Calibri" pitchFamily="34" charset="0"/>
                <a:ea typeface="Calibri" pitchFamily="34" charset="-122"/>
                <a:cs typeface="Calibri" pitchFamily="34" charset="-120"/>
              </a:rPr>
              <a:t>A flexible MLP overfits and fails to generalize (R2 &lt; 0).</a:t>
            </a:r>
            <a:endParaRPr lang="en-US" sz="1050" dirty="0"/>
          </a:p>
        </p:txBody>
      </p:sp>
      <p:sp>
        <p:nvSpPr>
          <p:cNvPr id="8" name="Text 5"/>
          <p:cNvSpPr/>
          <p:nvPr/>
        </p:nvSpPr>
        <p:spPr>
          <a:xfrm>
            <a:off x="548640" y="6035040"/>
            <a:ext cx="11091672" cy="548640"/>
          </a:xfrm>
          <a:prstGeom prst="rect">
            <a:avLst/>
          </a:prstGeom>
          <a:noFill/>
          <a:ln/>
        </p:spPr>
        <p:txBody>
          <a:bodyPr wrap="square" lIns="0" tIns="0" rIns="0" bIns="0" rtlCol="0" anchor="ctr"/>
          <a:lstStyle/>
          <a:p>
            <a:pPr algn="ctr" indent="0" marL="0">
              <a:buNone/>
            </a:pPr>
            <a:r>
              <a:rPr lang="en-US" sz="1250" i="1" dirty="0">
                <a:solidFill>
                  <a:srgbClr val="836A68"/>
                </a:solidFill>
                <a:latin typeface="Calibri" pitchFamily="34" charset="0"/>
                <a:ea typeface="Calibri" pitchFamily="34" charset="-122"/>
                <a:cs typeface="Calibri" pitchFamily="34" charset="-120"/>
              </a:rPr>
              <a:t>Preliminary: only the empty baseline is cleanly paired. Nonlinear domain adaptation needs far more paired data (multiple sessions, matched tumor positions).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Test 2: calibrate the sim, then transfer</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Apply the learned empty-baseline map to the sim tumor signal before training. Does it bridge the gap?</a:t>
            </a:r>
            <a:endParaRPr lang="en-US" sz="1400" dirty="0"/>
          </a:p>
        </p:txBody>
      </p:sp>
      <p:pic>
        <p:nvPicPr>
          <p:cNvPr id="4" name="Image 0" descr="test2_calibrated_sim2meas.png">    </p:cNvPr>
          <p:cNvPicPr>
            <a:picLocks noChangeAspect="1"/>
          </p:cNvPicPr>
          <p:nvPr/>
        </p:nvPicPr>
        <p:blipFill>
          <a:blip r:embed="rId1"/>
          <a:stretch>
            <a:fillRect/>
          </a:stretch>
        </p:blipFill>
        <p:spPr>
          <a:xfrm>
            <a:off x="320040" y="1463040"/>
            <a:ext cx="8275320" cy="4434840"/>
          </a:xfrm>
          <a:prstGeom prst="rect">
            <a:avLst/>
          </a:prstGeom>
        </p:spPr>
      </p:pic>
      <p:sp>
        <p:nvSpPr>
          <p:cNvPr id="5" name="Shape 2"/>
          <p:cNvSpPr/>
          <p:nvPr/>
        </p:nvSpPr>
        <p:spPr>
          <a:xfrm>
            <a:off x="8732520" y="1554480"/>
            <a:ext cx="3108960" cy="4480560"/>
          </a:xfrm>
          <a:prstGeom prst="roundRect">
            <a:avLst>
              <a:gd name="adj" fmla="val 2647"/>
            </a:avLst>
          </a:prstGeom>
          <a:solidFill>
            <a:srgbClr val="FBF4F2"/>
          </a:solidFill>
          <a:ln w="12700">
            <a:solidFill>
              <a:srgbClr val="E7D6D1"/>
            </a:solidFill>
            <a:prstDash val="solid"/>
          </a:ln>
          <a:effectLst>
            <a:outerShdw sx="100000" sy="100000" kx="0" ky="0" algn="bl" rotWithShape="0" blurRad="88900" dist="38100" dir="5400000">
              <a:srgbClr val="7A5C5E">
                <a:alpha val="18000"/>
              </a:srgbClr>
            </a:outerShdw>
          </a:effectLst>
        </p:spPr>
      </p:sp>
      <p:sp>
        <p:nvSpPr>
          <p:cNvPr id="6" name="Text 3"/>
          <p:cNvSpPr/>
          <p:nvPr/>
        </p:nvSpPr>
        <p:spPr>
          <a:xfrm>
            <a:off x="8915400" y="1691640"/>
            <a:ext cx="2788920" cy="320040"/>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The idea</a:t>
            </a:r>
            <a:endParaRPr lang="en-US" sz="1400" dirty="0"/>
          </a:p>
        </p:txBody>
      </p:sp>
      <p:sp>
        <p:nvSpPr>
          <p:cNvPr id="7" name="Text 4"/>
          <p:cNvSpPr/>
          <p:nvPr/>
        </p:nvSpPr>
        <p:spPr>
          <a:xfrm>
            <a:off x="8915400" y="2057400"/>
            <a:ext cx="2788920" cy="1417320"/>
          </a:xfrm>
          <a:prstGeom prst="rect">
            <a:avLst/>
          </a:prstGeom>
          <a:noFill/>
          <a:ln/>
        </p:spPr>
        <p:txBody>
          <a:bodyPr wrap="square" lIns="0" tIns="0" rIns="0" bIns="0" rtlCol="0" anchor="t"/>
          <a:lstStyle/>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A tumor signal is a difference dS, so the map's offset cancels: dS_measured-like = W dS_sim.</a:t>
            </a:r>
            <a:endParaRPr lang="en-US" sz="1030" dirty="0"/>
          </a:p>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Train the CNN on the calibrated sim, test on the untouched bench.</a:t>
            </a:r>
            <a:endParaRPr lang="en-US" sz="1030" dirty="0"/>
          </a:p>
        </p:txBody>
      </p:sp>
      <p:sp>
        <p:nvSpPr>
          <p:cNvPr id="8" name="Text 5"/>
          <p:cNvSpPr/>
          <p:nvPr/>
        </p:nvSpPr>
        <p:spPr>
          <a:xfrm>
            <a:off x="8915400" y="3611880"/>
            <a:ext cx="2788920" cy="320040"/>
          </a:xfrm>
          <a:prstGeom prst="rect">
            <a:avLst/>
          </a:prstGeom>
          <a:noFill/>
          <a:ln/>
        </p:spPr>
        <p:txBody>
          <a:bodyPr wrap="square" lIns="0" tIns="0" rIns="0" bIns="0" rtlCol="0" anchor="ctr"/>
          <a:lstStyle/>
          <a:p>
            <a:pPr indent="0" marL="0">
              <a:buNone/>
            </a:pPr>
            <a:r>
              <a:rPr lang="en-US" sz="1400" b="1" dirty="0">
                <a:solidFill>
                  <a:srgbClr val="BE0000"/>
                </a:solidFill>
                <a:latin typeface="Cambria" pitchFamily="34" charset="0"/>
                <a:ea typeface="Cambria" pitchFamily="34" charset="-122"/>
                <a:cs typeface="Cambria" pitchFamily="34" charset="-120"/>
              </a:rPr>
              <a:t>The result</a:t>
            </a:r>
            <a:endParaRPr lang="en-US" sz="1400" dirty="0"/>
          </a:p>
        </p:txBody>
      </p:sp>
      <p:sp>
        <p:nvSpPr>
          <p:cNvPr id="9" name="Text 6"/>
          <p:cNvSpPr/>
          <p:nvPr/>
        </p:nvSpPr>
        <p:spPr>
          <a:xfrm>
            <a:off x="8915400" y="3977640"/>
            <a:ext cx="2788920" cy="1965960"/>
          </a:xfrm>
          <a:prstGeom prst="rect">
            <a:avLst/>
          </a:prstGeom>
          <a:noFill/>
          <a:ln/>
        </p:spPr>
        <p:txBody>
          <a:bodyPr wrap="square" lIns="0" tIns="0" rIns="0" bIns="0" rtlCol="0" anchor="t"/>
          <a:lstStyle/>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The calibration does not close the gap: 46 mm calibrated vs 43 mm uncalibrated, both above 34 mm chance.</a:t>
            </a:r>
            <a:endParaRPr lang="en-US" sz="1030" dirty="0"/>
          </a:p>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Per-sample normalization already removes the map's amplitude effect; what remains is a harder domain gap.</a:t>
            </a:r>
            <a:endParaRPr lang="en-US" sz="1030" dirty="0"/>
          </a:p>
          <a:p>
            <a:pPr marL="342900" indent="-342900">
              <a:spcAft>
                <a:spcPts val="800"/>
              </a:spcAft>
              <a:buSzPct val="100000"/>
              <a:buChar char="•"/>
            </a:pPr>
            <a:r>
              <a:rPr lang="en-US" sz="1030" dirty="0">
                <a:solidFill>
                  <a:srgbClr val="2A1618"/>
                </a:solidFill>
                <a:latin typeface="Calibri" pitchFamily="34" charset="0"/>
                <a:ea typeface="Calibri" pitchFamily="34" charset="-122"/>
                <a:cs typeface="Calibri" pitchFamily="34" charset="-120"/>
              </a:rPr>
              <a:t>Bridging it needs paired tumor data or nonlinear adaptation, not a single empty-baseline linear map.</a:t>
            </a:r>
            <a:endParaRPr lang="en-US" sz="1030" dirty="0"/>
          </a:p>
        </p:txBody>
      </p:sp>
      <p:sp>
        <p:nvSpPr>
          <p:cNvPr id="10" name="Text 7"/>
          <p:cNvSpPr/>
          <p:nvPr/>
        </p:nvSpPr>
        <p:spPr>
          <a:xfrm>
            <a:off x="320040" y="6035040"/>
            <a:ext cx="8275320" cy="502920"/>
          </a:xfrm>
          <a:prstGeom prst="rect">
            <a:avLst/>
          </a:prstGeom>
          <a:noFill/>
          <a:ln/>
        </p:spPr>
        <p:txBody>
          <a:bodyPr wrap="square" lIns="0" tIns="0" rIns="0" bIns="0" rtlCol="0" anchor="ctr"/>
          <a:lstStyle/>
          <a:p>
            <a:pPr algn="ctr" indent="0" marL="0">
              <a:buNone/>
            </a:pPr>
            <a:r>
              <a:rPr lang="en-US" sz="1200" i="1" dirty="0">
                <a:solidFill>
                  <a:srgbClr val="836A68"/>
                </a:solidFill>
                <a:latin typeface="Calibri" pitchFamily="34" charset="0"/>
                <a:ea typeface="Calibri" pitchFamily="34" charset="-122"/>
                <a:cs typeface="Calibri" pitchFamily="34" charset="-120"/>
              </a:rPr>
              <a:t>Honest negative result: the empty-baseline signal transfers (R2 = 0.65), but that alone is not enough to place a tumor from sim on the bench.</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2A1618"/>
                </a:solidFill>
                <a:latin typeface="Cambria" pitchFamily="34" charset="0"/>
                <a:ea typeface="Cambria" pitchFamily="34" charset="-122"/>
                <a:cs typeface="Cambria" pitchFamily="34" charset="-120"/>
              </a:rPr>
              <a:t>Beet (dielectric) vs metal tumor, sim and measured</a:t>
            </a:r>
            <a:endParaRPr lang="en-US" sz="2900" dirty="0"/>
          </a:p>
        </p:txBody>
      </p:sp>
      <p:sp>
        <p:nvSpPr>
          <p:cNvPr id="3" name="Text 1"/>
          <p:cNvSpPr/>
          <p:nvPr/>
        </p:nvSpPr>
        <p:spPr>
          <a:xfrm>
            <a:off x="548640" y="1033272"/>
            <a:ext cx="11091672" cy="365760"/>
          </a:xfrm>
          <a:prstGeom prst="rect">
            <a:avLst/>
          </a:prstGeom>
          <a:noFill/>
          <a:ln/>
        </p:spPr>
        <p:txBody>
          <a:bodyPr wrap="square" lIns="0" tIns="0" rIns="0" bIns="0" rtlCol="0" anchor="ctr"/>
          <a:lstStyle/>
          <a:p>
            <a:pPr indent="0" marL="0">
              <a:buNone/>
            </a:pPr>
            <a:r>
              <a:rPr lang="en-US" sz="1400" b="1" dirty="0">
                <a:solidFill>
                  <a:srgbClr val="BE0000"/>
                </a:solidFill>
                <a:latin typeface="Calibri" pitchFamily="34" charset="0"/>
                <a:ea typeface="Calibri" pitchFamily="34" charset="-122"/>
                <a:cs typeface="Calibri" pitchFamily="34" charset="-120"/>
              </a:rPr>
              <a:t>How much differential signal a realistic dielectric target produces relative to metal</a:t>
            </a:r>
            <a:endParaRPr lang="en-US" sz="1400" dirty="0"/>
          </a:p>
        </p:txBody>
      </p:sp>
      <p:pic>
        <p:nvPicPr>
          <p:cNvPr id="4" name="Image 0" descr="beet_vs_metal_dS.png">    </p:cNvPr>
          <p:cNvPicPr>
            <a:picLocks noChangeAspect="1"/>
          </p:cNvPicPr>
          <p:nvPr/>
        </p:nvPicPr>
        <p:blipFill>
          <a:blip r:embed="rId1"/>
          <a:stretch>
            <a:fillRect/>
          </a:stretch>
        </p:blipFill>
        <p:spPr>
          <a:xfrm>
            <a:off x="822960" y="1737360"/>
            <a:ext cx="10515600" cy="48920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8F6"/>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BE0000"/>
          </a:solidFill>
          <a:ln/>
        </p:spPr>
      </p:sp>
      <p:sp>
        <p:nvSpPr>
          <p:cNvPr id="3" name="Text 1"/>
          <p:cNvSpPr/>
          <p:nvPr/>
        </p:nvSpPr>
        <p:spPr>
          <a:xfrm>
            <a:off x="822960" y="640080"/>
            <a:ext cx="10058400" cy="731520"/>
          </a:xfrm>
          <a:prstGeom prst="rect">
            <a:avLst/>
          </a:prstGeom>
          <a:noFill/>
          <a:ln/>
        </p:spPr>
        <p:txBody>
          <a:bodyPr wrap="square" lIns="0" tIns="0" rIns="0" bIns="0" rtlCol="0" anchor="ctr"/>
          <a:lstStyle/>
          <a:p>
            <a:pPr indent="0" marL="0">
              <a:buNone/>
            </a:pPr>
            <a:r>
              <a:rPr lang="en-US" sz="2800" b="1" dirty="0">
                <a:solidFill>
                  <a:srgbClr val="BE0000"/>
                </a:solidFill>
                <a:latin typeface="Cambria" pitchFamily="34" charset="0"/>
                <a:ea typeface="Cambria" pitchFamily="34" charset="-122"/>
                <a:cs typeface="Cambria" pitchFamily="34" charset="-120"/>
              </a:rPr>
              <a:t>Part 3, bottom line</a:t>
            </a:r>
            <a:endParaRPr lang="en-US" sz="2800" dirty="0"/>
          </a:p>
        </p:txBody>
      </p:sp>
      <p:sp>
        <p:nvSpPr>
          <p:cNvPr id="4" name="Shape 2"/>
          <p:cNvSpPr/>
          <p:nvPr/>
        </p:nvSpPr>
        <p:spPr>
          <a:xfrm>
            <a:off x="822960" y="1600200"/>
            <a:ext cx="384048" cy="384048"/>
          </a:xfrm>
          <a:prstGeom prst="ellipse">
            <a:avLst/>
          </a:prstGeom>
          <a:solidFill>
            <a:srgbClr val="BE0000"/>
          </a:solidFill>
          <a:ln/>
        </p:spPr>
      </p:sp>
      <p:sp>
        <p:nvSpPr>
          <p:cNvPr id="5" name="Text 3"/>
          <p:cNvSpPr/>
          <p:nvPr/>
        </p:nvSpPr>
        <p:spPr>
          <a:xfrm>
            <a:off x="822960" y="16002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p:nvPr/>
        </p:nvSpPr>
        <p:spPr>
          <a:xfrm>
            <a:off x="1371600" y="1508760"/>
            <a:ext cx="10241280" cy="868680"/>
          </a:xfrm>
          <a:prstGeom prst="rect">
            <a:avLst/>
          </a:prstGeom>
          <a:noFill/>
          <a:ln/>
        </p:spPr>
        <p:txBody>
          <a:bodyPr wrap="square" lIns="0" tIns="0" rIns="0" bIns="0" rtlCol="0" anchor="ctr"/>
          <a:lstStyle/>
          <a:p>
            <a:pPr indent="0" marL="0">
              <a:buNone/>
            </a:pPr>
            <a:r>
              <a:rPr lang="en-US" sz="1400" b="1" dirty="0">
                <a:solidFill>
                  <a:srgbClr val="2A1618"/>
                </a:solidFill>
                <a:latin typeface="Calibri" pitchFamily="34" charset="0"/>
                <a:ea typeface="Calibri" pitchFamily="34" charset="-122"/>
                <a:cs typeface="Calibri" pitchFamily="34" charset="-120"/>
              </a:rPr>
              <a:t>Sim and measured agree at the signal level:  </a:t>
            </a:r>
            <a:pPr indent="0" marL="0">
              <a:buNone/>
            </a:pPr>
            <a:r>
              <a:rPr lang="en-US" sz="1400" dirty="0">
                <a:solidFill>
                  <a:srgbClr val="836A68"/>
                </a:solidFill>
                <a:latin typeface="Calibri" pitchFamily="34" charset="0"/>
                <a:ea typeface="Calibri" pitchFamily="34" charset="-122"/>
                <a:cs typeface="Calibri" pitchFamily="34" charset="-120"/>
              </a:rPr>
              <a:t>the empty phantom interpolates to ~6 mm on both (k-NN), indicating the simulated signal is realistic.</a:t>
            </a:r>
            <a:endParaRPr lang="en-US" sz="1400" dirty="0"/>
          </a:p>
        </p:txBody>
      </p:sp>
      <p:sp>
        <p:nvSpPr>
          <p:cNvPr id="7" name="Shape 5"/>
          <p:cNvSpPr/>
          <p:nvPr/>
        </p:nvSpPr>
        <p:spPr>
          <a:xfrm>
            <a:off x="822960" y="2569464"/>
            <a:ext cx="384048" cy="384048"/>
          </a:xfrm>
          <a:prstGeom prst="ellipse">
            <a:avLst/>
          </a:prstGeom>
          <a:solidFill>
            <a:srgbClr val="BE0000"/>
          </a:solidFill>
          <a:ln/>
        </p:spPr>
      </p:sp>
      <p:sp>
        <p:nvSpPr>
          <p:cNvPr id="8" name="Text 6"/>
          <p:cNvSpPr/>
          <p:nvPr/>
        </p:nvSpPr>
        <p:spPr>
          <a:xfrm>
            <a:off x="822960" y="25694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p:nvPr/>
        </p:nvSpPr>
        <p:spPr>
          <a:xfrm>
            <a:off x="1371600" y="2478024"/>
            <a:ext cx="10241280" cy="868680"/>
          </a:xfrm>
          <a:prstGeom prst="rect">
            <a:avLst/>
          </a:prstGeom>
          <a:noFill/>
          <a:ln/>
        </p:spPr>
        <p:txBody>
          <a:bodyPr wrap="square" lIns="0" tIns="0" rIns="0" bIns="0" rtlCol="0" anchor="ctr"/>
          <a:lstStyle/>
          <a:p>
            <a:pPr indent="0" marL="0">
              <a:buNone/>
            </a:pPr>
            <a:r>
              <a:rPr lang="en-US" sz="1400" b="1" dirty="0">
                <a:solidFill>
                  <a:srgbClr val="2A1618"/>
                </a:solidFill>
                <a:latin typeface="Calibri" pitchFamily="34" charset="0"/>
                <a:ea typeface="Calibri" pitchFamily="34" charset="-122"/>
                <a:cs typeface="Calibri" pitchFamily="34" charset="-120"/>
              </a:rPr>
              <a:t>The detectable-difference pattern matches:  </a:t>
            </a:r>
            <a:pPr indent="0" marL="0">
              <a:buNone/>
            </a:pPr>
            <a:r>
              <a:rPr lang="en-US" sz="1400" dirty="0">
                <a:solidFill>
                  <a:srgbClr val="836A68"/>
                </a:solidFill>
                <a:latin typeface="Calibri" pitchFamily="34" charset="0"/>
                <a:ea typeface="Calibri" pitchFamily="34" charset="-122"/>
                <a:cs typeface="Calibri" pitchFamily="34" charset="-120"/>
              </a:rPr>
              <a:t>bench and sim place the tumor's strongest change in the same regions (toward the antenna sides).</a:t>
            </a:r>
            <a:endParaRPr lang="en-US" sz="1400" dirty="0"/>
          </a:p>
        </p:txBody>
      </p:sp>
      <p:sp>
        <p:nvSpPr>
          <p:cNvPr id="10" name="Shape 8"/>
          <p:cNvSpPr/>
          <p:nvPr/>
        </p:nvSpPr>
        <p:spPr>
          <a:xfrm>
            <a:off x="822960" y="3538728"/>
            <a:ext cx="384048" cy="384048"/>
          </a:xfrm>
          <a:prstGeom prst="ellipse">
            <a:avLst/>
          </a:prstGeom>
          <a:solidFill>
            <a:srgbClr val="BE0000"/>
          </a:solidFill>
          <a:ln/>
        </p:spPr>
      </p:sp>
      <p:sp>
        <p:nvSpPr>
          <p:cNvPr id="11" name="Text 9"/>
          <p:cNvSpPr/>
          <p:nvPr/>
        </p:nvSpPr>
        <p:spPr>
          <a:xfrm>
            <a:off x="822960" y="35387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371600" y="3447288"/>
            <a:ext cx="10241280" cy="868680"/>
          </a:xfrm>
          <a:prstGeom prst="rect">
            <a:avLst/>
          </a:prstGeom>
          <a:noFill/>
          <a:ln/>
        </p:spPr>
        <p:txBody>
          <a:bodyPr wrap="square" lIns="0" tIns="0" rIns="0" bIns="0" rtlCol="0" anchor="ctr"/>
          <a:lstStyle/>
          <a:p>
            <a:pPr indent="0" marL="0">
              <a:buNone/>
            </a:pPr>
            <a:r>
              <a:rPr lang="en-US" sz="1400" b="1" dirty="0">
                <a:solidFill>
                  <a:srgbClr val="2A1618"/>
                </a:solidFill>
                <a:latin typeface="Calibri" pitchFamily="34" charset="0"/>
                <a:ea typeface="Calibri" pitchFamily="34" charset="-122"/>
                <a:cs typeface="Calibri" pitchFamily="34" charset="-120"/>
              </a:rPr>
              <a:t>The CNN gap is data coverage, not fidelity:  </a:t>
            </a:r>
            <a:pPr indent="0" marL="0">
              <a:buNone/>
            </a:pPr>
            <a:r>
              <a:rPr lang="en-US" sz="1400" dirty="0">
                <a:solidFill>
                  <a:srgbClr val="836A68"/>
                </a:solidFill>
                <a:latin typeface="Calibri" pitchFamily="34" charset="0"/>
                <a:ea typeface="Calibri" pitchFamily="34" charset="-122"/>
                <a:cs typeface="Calibri" pitchFamily="34" charset="-120"/>
              </a:rPr>
              <a:t>sim's 3.9 mm comes from ~1000 distinct positions; measured's 9.9 mm from only ~50. Same model, different coverage.</a:t>
            </a:r>
            <a:endParaRPr lang="en-US" sz="1400" dirty="0"/>
          </a:p>
        </p:txBody>
      </p:sp>
      <p:sp>
        <p:nvSpPr>
          <p:cNvPr id="13" name="Shape 11"/>
          <p:cNvSpPr/>
          <p:nvPr/>
        </p:nvSpPr>
        <p:spPr>
          <a:xfrm>
            <a:off x="822960" y="4507992"/>
            <a:ext cx="384048" cy="384048"/>
          </a:xfrm>
          <a:prstGeom prst="ellipse">
            <a:avLst/>
          </a:prstGeom>
          <a:solidFill>
            <a:srgbClr val="BE0000"/>
          </a:solidFill>
          <a:ln/>
        </p:spPr>
      </p:sp>
      <p:sp>
        <p:nvSpPr>
          <p:cNvPr id="14" name="Text 12"/>
          <p:cNvSpPr/>
          <p:nvPr/>
        </p:nvSpPr>
        <p:spPr>
          <a:xfrm>
            <a:off x="822960" y="45079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p:nvPr/>
        </p:nvSpPr>
        <p:spPr>
          <a:xfrm>
            <a:off x="1371600" y="4416552"/>
            <a:ext cx="10241280" cy="868680"/>
          </a:xfrm>
          <a:prstGeom prst="rect">
            <a:avLst/>
          </a:prstGeom>
          <a:noFill/>
          <a:ln/>
        </p:spPr>
        <p:txBody>
          <a:bodyPr wrap="square" lIns="0" tIns="0" rIns="0" bIns="0" rtlCol="0" anchor="ctr"/>
          <a:lstStyle/>
          <a:p>
            <a:pPr indent="0" marL="0">
              <a:buNone/>
            </a:pPr>
            <a:r>
              <a:rPr lang="en-US" sz="1400" b="1" dirty="0">
                <a:solidFill>
                  <a:srgbClr val="2A1618"/>
                </a:solidFill>
                <a:latin typeface="Calibri" pitchFamily="34" charset="0"/>
                <a:ea typeface="Calibri" pitchFamily="34" charset="-122"/>
                <a:cs typeface="Calibri" pitchFamily="34" charset="-120"/>
              </a:rPr>
              <a:t>Sim predicts beet approximately equals metal, but the bench does not:  </a:t>
            </a:r>
            <a:pPr indent="0" marL="0">
              <a:buNone/>
            </a:pPr>
            <a:r>
              <a:rPr lang="en-US" sz="1400" dirty="0">
                <a:solidFill>
                  <a:srgbClr val="836A68"/>
                </a:solidFill>
                <a:latin typeface="Calibri" pitchFamily="34" charset="0"/>
                <a:ea typeface="Calibri" pitchFamily="34" charset="-122"/>
                <a:cs typeface="Calibri" pitchFamily="34" charset="-120"/>
              </a:rPr>
              <a:t>in sim the beet produces 93% of the metal signal; on the bench only 42%, flagging an object-size / depth mismatch or an optimistic sim beet model.</a:t>
            </a:r>
            <a:endParaRPr lang="en-US" sz="1400" dirty="0"/>
          </a:p>
        </p:txBody>
      </p:sp>
      <p:sp>
        <p:nvSpPr>
          <p:cNvPr id="16" name="Shape 14"/>
          <p:cNvSpPr/>
          <p:nvPr/>
        </p:nvSpPr>
        <p:spPr>
          <a:xfrm>
            <a:off x="822960" y="5477256"/>
            <a:ext cx="384048" cy="384048"/>
          </a:xfrm>
          <a:prstGeom prst="ellipse">
            <a:avLst/>
          </a:prstGeom>
          <a:solidFill>
            <a:srgbClr val="BE0000"/>
          </a:solidFill>
          <a:ln/>
        </p:spPr>
      </p:sp>
      <p:sp>
        <p:nvSpPr>
          <p:cNvPr id="17" name="Text 15"/>
          <p:cNvSpPr/>
          <p:nvPr/>
        </p:nvSpPr>
        <p:spPr>
          <a:xfrm>
            <a:off x="822960" y="5477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8" name="Text 16"/>
          <p:cNvSpPr/>
          <p:nvPr/>
        </p:nvSpPr>
        <p:spPr>
          <a:xfrm>
            <a:off x="1371600" y="5385816"/>
            <a:ext cx="10241280" cy="868680"/>
          </a:xfrm>
          <a:prstGeom prst="rect">
            <a:avLst/>
          </a:prstGeom>
          <a:noFill/>
          <a:ln/>
        </p:spPr>
        <p:txBody>
          <a:bodyPr wrap="square" lIns="0" tIns="0" rIns="0" bIns="0" rtlCol="0" anchor="ctr"/>
          <a:lstStyle/>
          <a:p>
            <a:pPr indent="0" marL="0">
              <a:buNone/>
            </a:pPr>
            <a:r>
              <a:rPr lang="en-US" sz="1400" b="1" dirty="0">
                <a:solidFill>
                  <a:srgbClr val="2A1618"/>
                </a:solidFill>
                <a:latin typeface="Calibri" pitchFamily="34" charset="0"/>
                <a:ea typeface="Calibri" pitchFamily="34" charset="-122"/>
                <a:cs typeface="Calibri" pitchFamily="34" charset="-120"/>
              </a:rPr>
              <a:t>The empty signal transfers, but a sim-only tumor model does not:  </a:t>
            </a:r>
            <a:pPr indent="0" marL="0">
              <a:buNone/>
            </a:pPr>
            <a:r>
              <a:rPr lang="en-US" sz="1400" dirty="0">
                <a:solidFill>
                  <a:srgbClr val="836A68"/>
                </a:solidFill>
                <a:latin typeface="Calibri" pitchFamily="34" charset="0"/>
                <a:ea typeface="Calibri" pitchFamily="34" charset="-122"/>
                <a:cs typeface="Calibri" pitchFamily="34" charset="-120"/>
              </a:rPr>
              <a:t>a linear map reaches R2 = 0.65 on the empty baseline, yet a CNN trained only on sim lands at 43 mm on the bench (worse than chance), and that linear calibration alone does not fix it (46 mm). Closing the gap needs paired tumor data or nonlinear adaptation.</a:t>
            </a:r>
            <a:endParaRPr lang="en-US" sz="1400" dirty="0"/>
          </a:p>
        </p:txBody>
      </p:sp>
      <p:sp>
        <p:nvSpPr>
          <p:cNvPr id="19" name="Text 17"/>
          <p:cNvSpPr/>
          <p:nvPr/>
        </p:nvSpPr>
        <p:spPr>
          <a:xfrm>
            <a:off x="822960" y="6400800"/>
            <a:ext cx="10515600" cy="320040"/>
          </a:xfrm>
          <a:prstGeom prst="rect">
            <a:avLst/>
          </a:prstGeom>
          <a:noFill/>
          <a:ln/>
        </p:spPr>
        <p:txBody>
          <a:bodyPr wrap="square" lIns="0" tIns="0" rIns="0" bIns="0" rtlCol="0" anchor="ctr"/>
          <a:lstStyle/>
          <a:p>
            <a:pPr indent="0" marL="0">
              <a:buNone/>
            </a:pPr>
            <a:r>
              <a:rPr lang="en-US" sz="1100" dirty="0">
                <a:solidFill>
                  <a:srgbClr val="BE0000"/>
                </a:solidFill>
                <a:latin typeface="Calibri" pitchFamily="34" charset="0"/>
                <a:ea typeface="Calibri" pitchFamily="34" charset="-122"/>
                <a:cs typeface="Calibri" pitchFamily="34" charset="-120"/>
              </a:rPr>
              <a:t>github.com/pmart1534/microwave-phantom-localization-cnn-mlp</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 vs Measured</dc:title>
  <dc:subject>PptxGenJS Presentation</dc:subject>
  <dc:creator>Peter Martin</dc:creator>
  <cp:lastModifiedBy>Peter Martin</cp:lastModifiedBy>
  <cp:revision>1</cp:revision>
  <dcterms:created xsi:type="dcterms:W3CDTF">2026-07-22T04:18:22Z</dcterms:created>
  <dcterms:modified xsi:type="dcterms:W3CDTF">2026-07-22T04:18:22Z</dcterms:modified>
</cp:coreProperties>
</file>